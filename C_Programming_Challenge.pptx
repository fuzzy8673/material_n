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b635bde-f752-96fe-f69d-82e95eaad3aa}">
          <p14:sldIdLst>
            <p14:sldId id="256"/>
            <p14:sldId id="257"/>
          </p14:sldIdLst>
        </p14:section>
        <p14:section name="Round 1 · Rapid Fire" id="{d9cd70cd-e9b4-5a32-079b-781addbfd75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ound 2 · Find the Bug" id="{99725b1d-b0ff-2112-6533-56802cf852d0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ound 3 · Predict the Output" id="{db4967ae-67ad-627d-8d85-2d4e174e450d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Round 4 · Coding Challenge 1" id="{a65c24e3-5bde-b1c9-e24a-49153397f5d0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Round 5 · Coding Challenge 2" id="{318ff626-b376-cad9-aa45-40548f42e1bd}">
          <p14:sldIdLst>
            <p14:sldId id="299"/>
            <p14:sldId id="300"/>
            <p14:sldId id="301"/>
            <p14:sldId id="302"/>
            <p14:sldId id="303"/>
          </p14:sldIdLst>
        </p14:section>
        <p14:section name="Round 6 · What If?" id="{03974345-a09a-3252-a7ee-54fc8ceeb670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Round 7 · Final Challenge" id="{1548e0b0-9f73-1f63-6265-707c946de3af}">
          <p14:sldIdLst>
            <p14:sldId id="315"/>
            <p14:sldId id="316"/>
            <p14:sldId id="317"/>
            <p14:sldId id="318"/>
            <p14:sldId id="319"/>
          </p14:sldIdLst>
        </p14:section>
        <p14:section name="Wrap-up" id="{d5e43d5a-019f-1357-ec33-7858212f69ed}">
          <p14:sldIdLst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DE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DE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7.png"/><Relationship Id="rId8" Type="http://schemas.openxmlformats.org/officeDocument/2006/relationships/image" Target="../media/image-6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 Programming Challenge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Revision through practice · Units 1–3</a:t>
            </a:r>
            <a:endParaRPr lang="en-US" sz="1800" dirty="0"/>
          </a:p>
        </p:txBody>
      </p:sp>
      <p:sp>
        <p:nvSpPr>
          <p:cNvPr id="4" name="code-window"/>
          <p:cNvSpPr/>
          <p:nvPr/>
        </p:nvSpPr>
        <p:spPr>
          <a:xfrm>
            <a:off x="5486400" y="114300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5650992" y="12618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5833872" y="12618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6016752" y="12618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6263640" y="1188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623560" y="1508760"/>
            <a:ext cx="29718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C!"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plan-card0"/>
          <p:cNvSpPr/>
          <p:nvPr/>
        </p:nvSpPr>
        <p:spPr>
          <a:xfrm>
            <a:off x="457200" y="10972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4" name="plan-icon0-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5" name="plan-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05890"/>
            <a:ext cx="251460" cy="251460"/>
          </a:xfrm>
          <a:prstGeom prst="rect">
            <a:avLst/>
          </a:prstGeom>
        </p:spPr>
      </p:pic>
      <p:sp>
        <p:nvSpPr>
          <p:cNvPr id="6" name="plan-time0"/>
          <p:cNvSpPr txBox="1"/>
          <p:nvPr/>
        </p:nvSpPr>
        <p:spPr>
          <a:xfrm>
            <a:off x="1234440" y="1344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1A"/>
                </a:solidFill>
              </a:rPr>
              <a:t>Round 1</a:t>
            </a:r>
            <a:endParaRPr lang="en-US" sz="1200" dirty="0"/>
          </a:p>
        </p:txBody>
      </p:sp>
      <p:sp>
        <p:nvSpPr>
          <p:cNvPr id="7" name="plan-name0"/>
          <p:cNvSpPr txBox="1"/>
          <p:nvPr/>
        </p:nvSpPr>
        <p:spPr>
          <a:xfrm>
            <a:off x="64008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Rapid Fire</a:t>
            </a:r>
            <a:endParaRPr lang="en-US" sz="1600" dirty="0"/>
          </a:p>
        </p:txBody>
      </p:sp>
      <p:sp>
        <p:nvSpPr>
          <p:cNvPr id="8" name="plan-card1"/>
          <p:cNvSpPr/>
          <p:nvPr/>
        </p:nvSpPr>
        <p:spPr>
          <a:xfrm>
            <a:off x="2560320" y="10972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9" name="plan-icon1-circle"/>
          <p:cNvSpPr/>
          <p:nvPr/>
        </p:nvSpPr>
        <p:spPr>
          <a:xfrm>
            <a:off x="2743200" y="1280160"/>
            <a:ext cx="502920" cy="50292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10" name="plan-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30" y="1405890"/>
            <a:ext cx="251460" cy="251460"/>
          </a:xfrm>
          <a:prstGeom prst="rect">
            <a:avLst/>
          </a:prstGeom>
        </p:spPr>
      </p:pic>
      <p:sp>
        <p:nvSpPr>
          <p:cNvPr id="11" name="plan-time1"/>
          <p:cNvSpPr txBox="1"/>
          <p:nvPr/>
        </p:nvSpPr>
        <p:spPr>
          <a:xfrm>
            <a:off x="3337560" y="1344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34A"/>
                </a:solidFill>
              </a:rPr>
              <a:t>Round 2</a:t>
            </a:r>
            <a:endParaRPr lang="en-US" sz="1200" dirty="0"/>
          </a:p>
        </p:txBody>
      </p:sp>
      <p:sp>
        <p:nvSpPr>
          <p:cNvPr id="12" name="plan-name1"/>
          <p:cNvSpPr txBox="1"/>
          <p:nvPr/>
        </p:nvSpPr>
        <p:spPr>
          <a:xfrm>
            <a:off x="27432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Find the Bug</a:t>
            </a:r>
            <a:endParaRPr lang="en-US" sz="1600" dirty="0"/>
          </a:p>
        </p:txBody>
      </p:sp>
      <p:sp>
        <p:nvSpPr>
          <p:cNvPr id="13" name="plan-card2"/>
          <p:cNvSpPr/>
          <p:nvPr/>
        </p:nvSpPr>
        <p:spPr>
          <a:xfrm>
            <a:off x="4663440" y="10972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4" name="plan-icon2-circle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5" name="plan-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1405890"/>
            <a:ext cx="251460" cy="251460"/>
          </a:xfrm>
          <a:prstGeom prst="rect">
            <a:avLst/>
          </a:prstGeom>
        </p:spPr>
      </p:pic>
      <p:sp>
        <p:nvSpPr>
          <p:cNvPr id="16" name="plan-time2"/>
          <p:cNvSpPr txBox="1"/>
          <p:nvPr/>
        </p:nvSpPr>
        <p:spPr>
          <a:xfrm>
            <a:off x="5440680" y="1344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FD8"/>
                </a:solidFill>
              </a:rPr>
              <a:t>Round 3</a:t>
            </a:r>
            <a:endParaRPr lang="en-US" sz="1200" dirty="0"/>
          </a:p>
        </p:txBody>
      </p:sp>
      <p:sp>
        <p:nvSpPr>
          <p:cNvPr id="17" name="plan-name2"/>
          <p:cNvSpPr txBox="1"/>
          <p:nvPr/>
        </p:nvSpPr>
        <p:spPr>
          <a:xfrm>
            <a:off x="48463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Predict the Output</a:t>
            </a:r>
            <a:endParaRPr lang="en-US" sz="1600" dirty="0"/>
          </a:p>
        </p:txBody>
      </p:sp>
      <p:sp>
        <p:nvSpPr>
          <p:cNvPr id="18" name="plan-card3"/>
          <p:cNvSpPr/>
          <p:nvPr/>
        </p:nvSpPr>
        <p:spPr>
          <a:xfrm>
            <a:off x="6766560" y="10972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9" name="plan-icon3-circle"/>
          <p:cNvSpPr/>
          <p:nvPr/>
        </p:nvSpPr>
        <p:spPr>
          <a:xfrm>
            <a:off x="6949440" y="1280160"/>
            <a:ext cx="502920" cy="502920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pic>
        <p:nvPicPr>
          <p:cNvPr id="20" name="plan-icon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1405890"/>
            <a:ext cx="251460" cy="251460"/>
          </a:xfrm>
          <a:prstGeom prst="rect">
            <a:avLst/>
          </a:prstGeom>
        </p:spPr>
      </p:pic>
      <p:sp>
        <p:nvSpPr>
          <p:cNvPr id="21" name="plan-time3"/>
          <p:cNvSpPr txBox="1"/>
          <p:nvPr/>
        </p:nvSpPr>
        <p:spPr>
          <a:xfrm>
            <a:off x="7543800" y="1344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FC4"/>
                </a:solidFill>
              </a:rPr>
              <a:t>Round 4</a:t>
            </a:r>
            <a:endParaRPr lang="en-US" sz="1200" dirty="0"/>
          </a:p>
        </p:txBody>
      </p:sp>
      <p:sp>
        <p:nvSpPr>
          <p:cNvPr id="22" name="plan-name3"/>
          <p:cNvSpPr txBox="1"/>
          <p:nvPr/>
        </p:nvSpPr>
        <p:spPr>
          <a:xfrm>
            <a:off x="694944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Coding Challenge 1</a:t>
            </a:r>
            <a:endParaRPr lang="en-US" sz="1600" dirty="0"/>
          </a:p>
        </p:txBody>
      </p:sp>
      <p:sp>
        <p:nvSpPr>
          <p:cNvPr id="23" name="plan-card4"/>
          <p:cNvSpPr/>
          <p:nvPr/>
        </p:nvSpPr>
        <p:spPr>
          <a:xfrm>
            <a:off x="457200" y="29260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4" name="plan-icon4-circle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pic>
        <p:nvPicPr>
          <p:cNvPr id="25" name="plan-icon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26" name="plan-time4"/>
          <p:cNvSpPr txBox="1"/>
          <p:nvPr/>
        </p:nvSpPr>
        <p:spPr>
          <a:xfrm>
            <a:off x="1234440" y="3172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FC4"/>
                </a:solidFill>
              </a:rPr>
              <a:t>Round 5</a:t>
            </a:r>
            <a:endParaRPr lang="en-US" sz="1200" dirty="0"/>
          </a:p>
        </p:txBody>
      </p:sp>
      <p:sp>
        <p:nvSpPr>
          <p:cNvPr id="27" name="plan-name4"/>
          <p:cNvSpPr txBox="1"/>
          <p:nvPr/>
        </p:nvSpPr>
        <p:spPr>
          <a:xfrm>
            <a:off x="64008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Coding Challenge 2</a:t>
            </a:r>
            <a:endParaRPr lang="en-US" sz="1600" dirty="0"/>
          </a:p>
        </p:txBody>
      </p:sp>
      <p:sp>
        <p:nvSpPr>
          <p:cNvPr id="28" name="plan-card5"/>
          <p:cNvSpPr/>
          <p:nvPr/>
        </p:nvSpPr>
        <p:spPr>
          <a:xfrm>
            <a:off x="2560320" y="29260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9" name="plan-icon5-circle"/>
          <p:cNvSpPr/>
          <p:nvPr/>
        </p:nvSpPr>
        <p:spPr>
          <a:xfrm>
            <a:off x="2743200" y="3108960"/>
            <a:ext cx="502920" cy="50292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30" name="plan-icon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8930" y="3234690"/>
            <a:ext cx="251460" cy="251460"/>
          </a:xfrm>
          <a:prstGeom prst="rect">
            <a:avLst/>
          </a:prstGeom>
        </p:spPr>
      </p:pic>
      <p:sp>
        <p:nvSpPr>
          <p:cNvPr id="31" name="plan-time5"/>
          <p:cNvSpPr txBox="1"/>
          <p:nvPr/>
        </p:nvSpPr>
        <p:spPr>
          <a:xfrm>
            <a:off x="3337560" y="3172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6B3C"/>
                </a:solidFill>
              </a:rPr>
              <a:t>Round 6</a:t>
            </a:r>
            <a:endParaRPr lang="en-US" sz="1200" dirty="0"/>
          </a:p>
        </p:txBody>
      </p:sp>
      <p:sp>
        <p:nvSpPr>
          <p:cNvPr id="32" name="plan-name5"/>
          <p:cNvSpPr txBox="1"/>
          <p:nvPr/>
        </p:nvSpPr>
        <p:spPr>
          <a:xfrm>
            <a:off x="274320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What If?</a:t>
            </a:r>
            <a:endParaRPr lang="en-US" sz="1600" dirty="0"/>
          </a:p>
        </p:txBody>
      </p:sp>
      <p:sp>
        <p:nvSpPr>
          <p:cNvPr id="33" name="plan-card6"/>
          <p:cNvSpPr/>
          <p:nvPr/>
        </p:nvSpPr>
        <p:spPr>
          <a:xfrm>
            <a:off x="4663440" y="29260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4" name="plan-icon6-circle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pic>
        <p:nvPicPr>
          <p:cNvPr id="35" name="plan-icon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3234690"/>
            <a:ext cx="251460" cy="251460"/>
          </a:xfrm>
          <a:prstGeom prst="rect">
            <a:avLst/>
          </a:prstGeom>
        </p:spPr>
      </p:pic>
      <p:sp>
        <p:nvSpPr>
          <p:cNvPr id="36" name="plan-time6"/>
          <p:cNvSpPr txBox="1"/>
          <p:nvPr/>
        </p:nvSpPr>
        <p:spPr>
          <a:xfrm>
            <a:off x="5440680" y="3172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3"/>
                </a:solidFill>
              </a:rPr>
              <a:t>Round 7</a:t>
            </a:r>
            <a:endParaRPr lang="en-US" sz="1200" dirty="0"/>
          </a:p>
        </p:txBody>
      </p:sp>
      <p:sp>
        <p:nvSpPr>
          <p:cNvPr id="37" name="plan-name6"/>
          <p:cNvSpPr txBox="1"/>
          <p:nvPr/>
        </p:nvSpPr>
        <p:spPr>
          <a:xfrm>
            <a:off x="484632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Final Challenge</a:t>
            </a:r>
            <a:endParaRPr lang="en-US" sz="1600" dirty="0"/>
          </a:p>
        </p:txBody>
      </p:sp>
      <p:sp>
        <p:nvSpPr>
          <p:cNvPr id="38" name="plan-card7"/>
          <p:cNvSpPr/>
          <p:nvPr/>
        </p:nvSpPr>
        <p:spPr>
          <a:xfrm>
            <a:off x="6766560" y="29260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9" name="plan-icon7-circle"/>
          <p:cNvSpPr/>
          <p:nvPr/>
        </p:nvSpPr>
        <p:spPr>
          <a:xfrm>
            <a:off x="6949440" y="3108960"/>
            <a:ext cx="502920" cy="502920"/>
          </a:xfrm>
          <a:prstGeom prst="ellipse">
            <a:avLst/>
          </a:prstGeom>
          <a:solidFill>
            <a:srgbClr val="5B6275"/>
          </a:solidFill>
          <a:ln w="12700">
            <a:solidFill>
              <a:srgbClr val="5B6275"/>
            </a:solidFill>
            <a:prstDash val="solid"/>
          </a:ln>
        </p:spPr>
      </p:sp>
      <p:pic>
        <p:nvPicPr>
          <p:cNvPr id="40" name="plan-icon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5170" y="3234690"/>
            <a:ext cx="251460" cy="251460"/>
          </a:xfrm>
          <a:prstGeom prst="rect">
            <a:avLst/>
          </a:prstGeom>
        </p:spPr>
      </p:pic>
      <p:sp>
        <p:nvSpPr>
          <p:cNvPr id="41" name="plan-time7"/>
          <p:cNvSpPr txBox="1"/>
          <p:nvPr/>
        </p:nvSpPr>
        <p:spPr>
          <a:xfrm>
            <a:off x="7543800" y="3172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275"/>
                </a:solidFill>
              </a:rPr>
              <a:t>Recap</a:t>
            </a:r>
            <a:endParaRPr lang="en-US" sz="1200" dirty="0"/>
          </a:p>
        </p:txBody>
      </p:sp>
      <p:sp>
        <p:nvSpPr>
          <p:cNvPr id="42" name="plan-name7"/>
          <p:cNvSpPr txBox="1"/>
          <p:nvPr/>
        </p:nvSpPr>
        <p:spPr>
          <a:xfrm>
            <a:off x="694944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Concepts Covered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Rapid Fire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Increment · Assignment vs comparison · Loops · Relational operators · Type conversion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E8961A"/>
          </a:solidFill>
          <a:ln>
            <a:solidFill>
              <a:srgbClr val="E89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961A"/>
          </a:solidFill>
          <a:ln>
            <a:solidFill>
              <a:srgbClr val="E89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a++);</a:t>
            </a:r>
            <a:endParaRPr lang="en-US" sz="18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14" name="prompt-sub"/>
          <p:cNvSpPr txBox="1"/>
          <p:nvPr/>
        </p:nvSpPr>
        <p:spPr>
          <a:xfrm>
            <a:off x="608076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What is the value of a after this line?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a++);</a:t>
            </a:r>
            <a:endParaRPr lang="en-US" sz="16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a++ is post-increment: the old value (10) is used first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Then a becomes 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++a would have printed 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961A"/>
          </a:solidFill>
          <a:ln>
            <a:solidFill>
              <a:srgbClr val="E89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"Yes"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"Yes"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= is assignment, not comparison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 = 10 stores 10; the expression's value is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Any non-zero value is true in 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Comparison needs ==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961A"/>
          </a:solidFill>
          <a:ln>
            <a:solidFill>
              <a:srgbClr val="E89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Loop A */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Loop B */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Output of Loop A? Output of Loop B?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Loop A */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Loop B */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843280"/>
          </a:xfrm>
          <a:prstGeom prst="roundRect">
            <a:avLst>
              <a:gd name="adj" fmla="val 8675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1 2 3 4 5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6</a:t>
            </a:r>
            <a:endParaRPr lang="en-US" sz="20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443480"/>
            <a:ext cx="3474720" cy="217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Loop B has a ; right after for(...)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The loop body is empty — it just counts i up to 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The { } block runs once afterwards, printing 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961A"/>
          </a:solidFill>
          <a:ln>
            <a:solidFill>
              <a:srgbClr val="E89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&gt; b);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&lt; b);</a:t>
            </a:r>
            <a:endParaRPr lang="en-US" sz="17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&gt; b);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&lt; b);</a:t>
            </a:r>
            <a:endParaRPr lang="en-US" sz="15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909320"/>
          </a:xfrm>
          <a:prstGeom prst="roundRect">
            <a:avLst>
              <a:gd name="adj" fmla="val 8045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509520"/>
            <a:ext cx="347472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Relational operators give an int in 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False → 0, True →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10 &gt; 20 is false; 10 &lt; 20 is true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961A"/>
          </a:solidFill>
          <a:ln>
            <a:solidFill>
              <a:srgbClr val="E89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*/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 */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"%f"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 */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"%f"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z);</a:t>
            </a:r>
            <a:endParaRPr lang="en-US" sz="15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Output of A, B and C?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Rapid Fire · Q5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*/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 */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"%f"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 */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"%f"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z);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1074420"/>
          </a:xfrm>
          <a:prstGeom prst="roundRect">
            <a:avLst>
              <a:gd name="adj" fmla="val 6809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3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3.000000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3.333333</a:t>
            </a:r>
            <a:endParaRPr lang="en-US" sz="18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674620"/>
            <a:ext cx="347472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10 / 3 is int ÷ int = 3 (fraction dropped)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B stores 3 into a float → 3.000000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In C, 10.0 is a double, so real division happens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Find the Bug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scanf · if conditions · for loops · function return types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D9434A"/>
          </a:solidFill>
          <a:ln>
            <a:solidFill>
              <a:srgbClr val="D94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9434A"/>
          </a:solidFill>
          <a:ln>
            <a:solidFill>
              <a:srgbClr val="D94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BUG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age: 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age);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 = %d"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age);</a:t>
            </a:r>
            <a:endParaRPr lang="en-US" sz="16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Find the bug.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age: 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&amp;age);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 = %d"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age);</a:t>
            </a:r>
            <a:endParaRPr lang="en-US" sz="15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THE FIX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5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scanf needs the address of the variable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&amp; gives that address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Passing age passes a garbage value as an address → crash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9434A"/>
          </a:solidFill>
          <a:ln>
            <a:solidFill>
              <a:srgbClr val="D94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BUG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(marks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Find the bug.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=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(marks ==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THE FIX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== 50</a:t>
            </a:r>
            <a:endParaRPr lang="en-US" sz="18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marks = 50 is assignment — it overwrites marks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It is always true, so "Pass" always prints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Use == to compare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9434A"/>
          </a:solidFill>
          <a:ln>
            <a:solidFill>
              <a:srgbClr val="D94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BUG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Will this print 12345?</a:t>
            </a:r>
            <a:endParaRPr lang="en-US" sz="1900" dirty="0"/>
          </a:p>
        </p:txBody>
      </p:sp>
      <p:sp>
        <p:nvSpPr>
          <p:cNvPr id="14" name="prompt-sub"/>
          <p:cNvSpPr txBox="1"/>
          <p:nvPr/>
        </p:nvSpPr>
        <p:spPr>
          <a:xfrm>
            <a:off x="608076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If not, what does it print?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i is increased twice per pass: once inside, once by i++ in for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Trace: 1 printed → 3 printed → 5 printed → i = 7, loop ends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Fix: remove the i++ inside the body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9434A"/>
          </a:solidFill>
          <a:ln>
            <a:solidFill>
              <a:srgbClr val="D94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BUG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+ b);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wrong with this function?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 the Bug · 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Fix 1: it only prints */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+ b);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Fix 2: it returns */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int, but no return</a:t>
            </a:r>
            <a:endParaRPr lang="en-US" sz="16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Return type says int, but nothing is returned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gcc warns: control reaches end of non-void function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Choose: void if it only prints, or return the sum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Predict the Output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switch · while · increment · precedence · ternary · do-while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"One 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"Two 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"Three 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"One 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"Two 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"Three 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Three Done</a:t>
            </a:r>
            <a:endParaRPr lang="en-US" sz="18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No break statements → fall-through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Execution starts at case 2 and runs every case below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Add break; after each printf to print only Two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&lt;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i++);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7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&lt; 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i++);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6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0 1 2 3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i++ prints the current value, then increases 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Loop prints 0 1 2 and stops when i becomes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The last printf prints the final i: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b;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a++ + 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%d"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a, b);</a:t>
            </a:r>
            <a:endParaRPr lang="en-US" sz="18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a++ +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%d"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a, b);</a:t>
            </a:r>
            <a:endParaRPr lang="en-US" sz="17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6 15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a++ uses 5 in the expression → b = 15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Afterwards a becomes 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With ++a it would be 6 16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 %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"Even"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"Odd"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 %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"Odd"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909320"/>
          </a:xfrm>
          <a:prstGeom prst="roundRect">
            <a:avLst>
              <a:gd name="adj" fmla="val 8045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509520"/>
            <a:ext cx="347472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% and * are done before +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10 % 3 = 1, 2 * 3 = 6, 1 + 6 = 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7 % 2 is 1, so the condition is false → "Odd"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80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&lt; 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Predict the Output · 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i);</a:t>
            </a:r>
            <a:endParaRPr lang="en-US" sz="17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&lt; 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do-while checks the condition after the body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So the body always runs at least once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 while loop here would print nothing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Coding Challenge 1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Electricity Bill Calculator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1F7FC4"/>
          </a:solidFill>
          <a:ln>
            <a:solidFill>
              <a:srgbClr val="1F7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Electricity Bill Calculator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7FC4"/>
          </a:solidFill>
          <a:ln>
            <a:solidFill>
              <a:srgbClr val="1F7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PROBLEM</a:t>
            </a:r>
            <a:endParaRPr lang="en-US" sz="1300" dirty="0"/>
          </a:p>
        </p:txBody>
      </p:sp>
      <p:sp>
        <p:nvSpPr>
          <p:cNvPr id="4" name="task"/>
          <p:cNvSpPr txBox="1"/>
          <p:nvPr/>
        </p:nvSpPr>
        <p:spPr>
          <a:xfrm>
            <a:off x="4572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Read the units consumed and print the total bill:</a:t>
            </a:r>
            <a:endParaRPr lang="en-US" sz="1600" dirty="0"/>
          </a:p>
        </p:txBody>
      </p:sp>
      <p:sp>
        <p:nvSpPr>
          <p:cNvPr id="5" name="slab0"/>
          <p:cNvSpPr/>
          <p:nvPr/>
        </p:nvSpPr>
        <p:spPr>
          <a:xfrm>
            <a:off x="457200" y="15544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6" name="slab-a0"/>
          <p:cNvSpPr txBox="1"/>
          <p:nvPr/>
        </p:nvSpPr>
        <p:spPr>
          <a:xfrm>
            <a:off x="64008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First 100 units</a:t>
            </a:r>
            <a:endParaRPr lang="en-US" sz="1600" dirty="0"/>
          </a:p>
        </p:txBody>
      </p:sp>
      <p:sp>
        <p:nvSpPr>
          <p:cNvPr id="7" name="slab-b0"/>
          <p:cNvSpPr txBox="1"/>
          <p:nvPr/>
        </p:nvSpPr>
        <p:spPr>
          <a:xfrm>
            <a:off x="301752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7FC4"/>
                </a:solidFill>
              </a:rPr>
              <a:t>₹2 / unit</a:t>
            </a:r>
            <a:endParaRPr lang="en-US" sz="1600" dirty="0"/>
          </a:p>
        </p:txBody>
      </p:sp>
      <p:sp>
        <p:nvSpPr>
          <p:cNvPr id="8" name="slab1"/>
          <p:cNvSpPr/>
          <p:nvPr/>
        </p:nvSpPr>
        <p:spPr>
          <a:xfrm>
            <a:off x="457200" y="22402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9" name="slab-a1"/>
          <p:cNvSpPr txBox="1"/>
          <p:nvPr/>
        </p:nvSpPr>
        <p:spPr>
          <a:xfrm>
            <a:off x="640080" y="2240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Next 100 units</a:t>
            </a:r>
            <a:endParaRPr lang="en-US" sz="1600" dirty="0"/>
          </a:p>
        </p:txBody>
      </p:sp>
      <p:sp>
        <p:nvSpPr>
          <p:cNvPr id="10" name="slab-b1"/>
          <p:cNvSpPr txBox="1"/>
          <p:nvPr/>
        </p:nvSpPr>
        <p:spPr>
          <a:xfrm>
            <a:off x="301752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7FC4"/>
                </a:solidFill>
              </a:rPr>
              <a:t>₹3 / unit</a:t>
            </a:r>
            <a:endParaRPr lang="en-US" sz="1600" dirty="0"/>
          </a:p>
        </p:txBody>
      </p:sp>
      <p:sp>
        <p:nvSpPr>
          <p:cNvPr id="11" name="slab2"/>
          <p:cNvSpPr/>
          <p:nvPr/>
        </p:nvSpPr>
        <p:spPr>
          <a:xfrm>
            <a:off x="457200" y="29260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2" name="slab-a2"/>
          <p:cNvSpPr txBox="1"/>
          <p:nvPr/>
        </p:nvSpPr>
        <p:spPr>
          <a:xfrm>
            <a:off x="64008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Above 200 units</a:t>
            </a:r>
            <a:endParaRPr lang="en-US" sz="1600" dirty="0"/>
          </a:p>
        </p:txBody>
      </p:sp>
      <p:sp>
        <p:nvSpPr>
          <p:cNvPr id="13" name="slab-b2"/>
          <p:cNvSpPr txBox="1"/>
          <p:nvPr/>
        </p:nvSpPr>
        <p:spPr>
          <a:xfrm>
            <a:off x="301752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7FC4"/>
                </a:solidFill>
              </a:rPr>
              <a:t>₹5 / unit</a:t>
            </a:r>
            <a:endParaRPr lang="en-US" sz="1600" dirty="0"/>
          </a:p>
        </p:txBody>
      </p:sp>
      <p:sp>
        <p:nvSpPr>
          <p:cNvPr id="14" name="uses"/>
          <p:cNvSpPr txBox="1"/>
          <p:nvPr/>
        </p:nvSpPr>
        <p:spPr>
          <a:xfrm>
            <a:off x="457200" y="3703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</a:rPr>
              <a:t>Uses: scanf · variables · if-else ladder · arithmetic · type handling</a:t>
            </a:r>
            <a:endParaRPr lang="en-US" sz="1400" dirty="0"/>
          </a:p>
        </p:txBody>
      </p:sp>
      <p:sp>
        <p:nvSpPr>
          <p:cNvPr id="15" name="code-window"/>
          <p:cNvSpPr/>
          <p:nvPr/>
        </p:nvSpPr>
        <p:spPr>
          <a:xfrm>
            <a:off x="5029200" y="105156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code-dot0"/>
          <p:cNvSpPr/>
          <p:nvPr/>
        </p:nvSpPr>
        <p:spPr>
          <a:xfrm>
            <a:off x="5193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code-dot1"/>
          <p:cNvSpPr/>
          <p:nvPr/>
        </p:nvSpPr>
        <p:spPr>
          <a:xfrm>
            <a:off x="5376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code-dot2"/>
          <p:cNvSpPr/>
          <p:nvPr/>
        </p:nvSpPr>
        <p:spPr>
          <a:xfrm>
            <a:off x="5559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code-label"/>
          <p:cNvSpPr txBox="1"/>
          <p:nvPr/>
        </p:nvSpPr>
        <p:spPr>
          <a:xfrm>
            <a:off x="580644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</a:t>
            </a:r>
            <a:endParaRPr lang="en-US" sz="1000" dirty="0"/>
          </a:p>
        </p:txBody>
      </p:sp>
      <p:sp>
        <p:nvSpPr>
          <p:cNvPr id="20" name="code-text"/>
          <p:cNvSpPr txBox="1"/>
          <p:nvPr/>
        </p:nvSpPr>
        <p:spPr>
          <a:xfrm>
            <a:off x="5166360" y="1417320"/>
            <a:ext cx="33832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units consumed: 80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bill = Rs. 160.00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units consumed: 150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bill = Rs. ???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units consumed: 250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bill = Rs. ???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Test cases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7FC4"/>
          </a:solidFill>
          <a:ln>
            <a:solidFill>
              <a:srgbClr val="1F7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test-card0"/>
          <p:cNvSpPr/>
          <p:nvPr/>
        </p:nvSpPr>
        <p:spPr>
          <a:xfrm>
            <a:off x="457200" y="11887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5" name="test-u0"/>
          <p:cNvSpPr txBox="1"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9"/>
                </a:solidFill>
              </a:rPr>
              <a:t>150 units</a:t>
            </a:r>
            <a:endParaRPr lang="en-US" sz="2000" dirty="0"/>
          </a:p>
        </p:txBody>
      </p:sp>
      <p:sp>
        <p:nvSpPr>
          <p:cNvPr id="6" name="test-v0"/>
          <p:cNvSpPr txBox="1"/>
          <p:nvPr/>
        </p:nvSpPr>
        <p:spPr>
          <a:xfrm>
            <a:off x="73152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7FC4"/>
                </a:solidFill>
              </a:rPr>
              <a:t>₹ ?</a:t>
            </a:r>
            <a:endParaRPr lang="en-US" sz="5400" dirty="0"/>
          </a:p>
        </p:txBody>
      </p:sp>
      <p:sp>
        <p:nvSpPr>
          <p:cNvPr id="7" name="test-card1"/>
          <p:cNvSpPr/>
          <p:nvPr/>
        </p:nvSpPr>
        <p:spPr>
          <a:xfrm>
            <a:off x="4663440" y="11887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8" name="test-u1"/>
          <p:cNvSpPr txBox="1"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9"/>
                </a:solidFill>
              </a:rPr>
              <a:t>250 units</a:t>
            </a:r>
            <a:endParaRPr lang="en-US" sz="2000" dirty="0"/>
          </a:p>
        </p:txBody>
      </p:sp>
      <p:sp>
        <p:nvSpPr>
          <p:cNvPr id="9" name="test-v1"/>
          <p:cNvSpPr txBox="1"/>
          <p:nvPr/>
        </p:nvSpPr>
        <p:spPr>
          <a:xfrm>
            <a:off x="493776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7FC4"/>
                </a:solidFill>
              </a:rPr>
              <a:t>₹ ?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Test cases · answers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ans-card0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5" name="ans-u0"/>
          <p:cNvSpPr txBox="1"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9"/>
                </a:solidFill>
              </a:rPr>
              <a:t>150 units</a:t>
            </a:r>
            <a:endParaRPr lang="en-US" sz="2000" dirty="0"/>
          </a:p>
        </p:txBody>
      </p:sp>
      <p:sp>
        <p:nvSpPr>
          <p:cNvPr id="6" name="ans-v0"/>
          <p:cNvSpPr txBox="1"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9E63"/>
                </a:solidFill>
              </a:rPr>
              <a:t>₹350</a:t>
            </a:r>
            <a:endParaRPr lang="en-US" sz="5400" dirty="0"/>
          </a:p>
        </p:txBody>
      </p:sp>
      <p:sp>
        <p:nvSpPr>
          <p:cNvPr id="7" name="ans-w0"/>
          <p:cNvSpPr txBox="1"/>
          <p:nvPr/>
        </p:nvSpPr>
        <p:spPr>
          <a:xfrm>
            <a:off x="73152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100×2 + 50×3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 + 150</a:t>
            </a:r>
            <a:endParaRPr lang="en-US" sz="1600" dirty="0"/>
          </a:p>
        </p:txBody>
      </p:sp>
      <p:sp>
        <p:nvSpPr>
          <p:cNvPr id="8" name="ans-card1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9" name="ans-u1"/>
          <p:cNvSpPr txBox="1"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9"/>
                </a:solidFill>
              </a:rPr>
              <a:t>250 units</a:t>
            </a:r>
            <a:endParaRPr lang="en-US" sz="2000" dirty="0"/>
          </a:p>
        </p:txBody>
      </p:sp>
      <p:sp>
        <p:nvSpPr>
          <p:cNvPr id="10" name="ans-v1"/>
          <p:cNvSpPr txBox="1"/>
          <p:nvPr/>
        </p:nvSpPr>
        <p:spPr>
          <a:xfrm>
            <a:off x="493776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9E63"/>
                </a:solidFill>
              </a:rPr>
              <a:t>₹750</a:t>
            </a:r>
            <a:endParaRPr lang="en-US" sz="5400" dirty="0"/>
          </a:p>
        </p:txBody>
      </p:sp>
      <p:sp>
        <p:nvSpPr>
          <p:cNvPr id="11" name="ans-w1"/>
          <p:cNvSpPr txBox="1"/>
          <p:nvPr/>
        </p:nvSpPr>
        <p:spPr>
          <a:xfrm>
            <a:off x="493776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100×2 + 100×3 + 50×5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 + 300 + 250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Solution · Level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96012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05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325880"/>
            <a:ext cx="54864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units;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bill;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units consumed: "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&amp;units);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(units &lt;=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units *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(units &lt;=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(units -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(units -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bill = Rs. %.2f\n"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bill);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why"/>
          <p:cNvSpPr txBox="1"/>
          <p:nvPr/>
        </p:nvSpPr>
        <p:spPr>
          <a:xfrm>
            <a:off x="640080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</a:rPr>
              <a:t>Why else-if?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Only one slab block runs — the first true condition wins.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</a:rPr>
              <a:t>Why float?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Bills can have paise once we add surcharges.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Extend the program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7FC4"/>
          </a:solidFill>
          <a:ln>
            <a:solidFill>
              <a:srgbClr val="1F7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LEVELS</a:t>
            </a:r>
            <a:endParaRPr lang="en-US" sz="1300" dirty="0"/>
          </a:p>
        </p:txBody>
      </p:sp>
      <p:sp>
        <p:nvSpPr>
          <p:cNvPr id="4" name="lv-dot0"/>
          <p:cNvSpPr/>
          <p:nvPr/>
        </p:nvSpPr>
        <p:spPr>
          <a:xfrm>
            <a:off x="457200" y="1060704"/>
            <a:ext cx="438912" cy="438912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5" name="lv-n0"/>
          <p:cNvSpPr txBox="1"/>
          <p:nvPr/>
        </p:nvSpPr>
        <p:spPr>
          <a:xfrm>
            <a:off x="457200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lv-h0"/>
          <p:cNvSpPr txBox="1"/>
          <p:nvPr/>
        </p:nvSpPr>
        <p:spPr>
          <a:xfrm>
            <a:off x="1051560" y="1005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Calculate the bill</a:t>
            </a:r>
            <a:endParaRPr lang="en-US" sz="1600" dirty="0"/>
          </a:p>
        </p:txBody>
      </p:sp>
      <p:sp>
        <p:nvSpPr>
          <p:cNvPr id="7" name="lv-d0"/>
          <p:cNvSpPr txBox="1"/>
          <p:nvPr/>
        </p:nvSpPr>
        <p:spPr>
          <a:xfrm>
            <a:off x="1051560" y="12893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Using an if-else ladder</a:t>
            </a:r>
            <a:endParaRPr lang="en-US" sz="1300" dirty="0"/>
          </a:p>
        </p:txBody>
      </p:sp>
      <p:sp>
        <p:nvSpPr>
          <p:cNvPr id="8" name="lv-dot1"/>
          <p:cNvSpPr/>
          <p:nvPr/>
        </p:nvSpPr>
        <p:spPr>
          <a:xfrm>
            <a:off x="457200" y="1664208"/>
            <a:ext cx="438912" cy="438912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sp>
        <p:nvSpPr>
          <p:cNvPr id="9" name="lv-n1"/>
          <p:cNvSpPr txBox="1"/>
          <p:nvPr/>
        </p:nvSpPr>
        <p:spPr>
          <a:xfrm>
            <a:off x="457200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lv-h1"/>
          <p:cNvSpPr txBox="1"/>
          <p:nvPr/>
        </p:nvSpPr>
        <p:spPr>
          <a:xfrm>
            <a:off x="1051560" y="1609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Move it into a function</a:t>
            </a:r>
            <a:endParaRPr lang="en-US" sz="1600" dirty="0"/>
          </a:p>
        </p:txBody>
      </p:sp>
      <p:sp>
        <p:nvSpPr>
          <p:cNvPr id="11" name="lv-d1"/>
          <p:cNvSpPr txBox="1"/>
          <p:nvPr/>
        </p:nvSpPr>
        <p:spPr>
          <a:xfrm>
            <a:off x="1051560" y="1892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calculateBill(int units)</a:t>
            </a:r>
            <a:endParaRPr lang="en-US" sz="1300" dirty="0"/>
          </a:p>
        </p:txBody>
      </p:sp>
      <p:sp>
        <p:nvSpPr>
          <p:cNvPr id="12" name="lv-dot2"/>
          <p:cNvSpPr/>
          <p:nvPr/>
        </p:nvSpPr>
        <p:spPr>
          <a:xfrm>
            <a:off x="457200" y="2267712"/>
            <a:ext cx="438912" cy="438912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sp>
        <p:nvSpPr>
          <p:cNvPr id="13" name="lv-n2"/>
          <p:cNvSpPr txBox="1"/>
          <p:nvPr/>
        </p:nvSpPr>
        <p:spPr>
          <a:xfrm>
            <a:off x="457200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lv-h2"/>
          <p:cNvSpPr txBox="1"/>
          <p:nvPr/>
        </p:nvSpPr>
        <p:spPr>
          <a:xfrm>
            <a:off x="1051560" y="22128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Return the bill — don't print inside</a:t>
            </a:r>
            <a:endParaRPr lang="en-US" sz="1600" dirty="0"/>
          </a:p>
        </p:txBody>
      </p:sp>
      <p:sp>
        <p:nvSpPr>
          <p:cNvPr id="15" name="lv-d2"/>
          <p:cNvSpPr txBox="1"/>
          <p:nvPr/>
        </p:nvSpPr>
        <p:spPr>
          <a:xfrm>
            <a:off x="1051560" y="24963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main() does the printing</a:t>
            </a:r>
            <a:endParaRPr lang="en-US" sz="1300" dirty="0"/>
          </a:p>
        </p:txBody>
      </p:sp>
      <p:sp>
        <p:nvSpPr>
          <p:cNvPr id="16" name="lv-dot3"/>
          <p:cNvSpPr/>
          <p:nvPr/>
        </p:nvSpPr>
        <p:spPr>
          <a:xfrm>
            <a:off x="457200" y="2871216"/>
            <a:ext cx="438912" cy="438912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sp>
        <p:nvSpPr>
          <p:cNvPr id="17" name="lv-n3"/>
          <p:cNvSpPr txBox="1"/>
          <p:nvPr/>
        </p:nvSpPr>
        <p:spPr>
          <a:xfrm>
            <a:off x="4572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lv-h3"/>
          <p:cNvSpPr txBox="1"/>
          <p:nvPr/>
        </p:nvSpPr>
        <p:spPr>
          <a:xfrm>
            <a:off x="1051560" y="2816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Add a fixed ₹50 service charge</a:t>
            </a:r>
            <a:endParaRPr lang="en-US" sz="1600" dirty="0"/>
          </a:p>
        </p:txBody>
      </p:sp>
      <p:sp>
        <p:nvSpPr>
          <p:cNvPr id="19" name="lv-d3"/>
          <p:cNvSpPr txBox="1"/>
          <p:nvPr/>
        </p:nvSpPr>
        <p:spPr>
          <a:xfrm>
            <a:off x="1051560" y="30998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Added to every bill</a:t>
            </a:r>
            <a:endParaRPr lang="en-US" sz="1300" dirty="0"/>
          </a:p>
        </p:txBody>
      </p:sp>
      <p:sp>
        <p:nvSpPr>
          <p:cNvPr id="20" name="lv-dot4"/>
          <p:cNvSpPr/>
          <p:nvPr/>
        </p:nvSpPr>
        <p:spPr>
          <a:xfrm>
            <a:off x="457200" y="3474720"/>
            <a:ext cx="438912" cy="438912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sp>
        <p:nvSpPr>
          <p:cNvPr id="21" name="lv-n4"/>
          <p:cNvSpPr txBox="1"/>
          <p:nvPr/>
        </p:nvSpPr>
        <p:spPr>
          <a:xfrm>
            <a:off x="4572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lv-h4"/>
          <p:cNvSpPr txBox="1"/>
          <p:nvPr/>
        </p:nvSpPr>
        <p:spPr>
          <a:xfrm>
            <a:off x="1051560" y="34198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10% surcharge if bill &gt; ₹1000</a:t>
            </a:r>
            <a:endParaRPr lang="en-US" sz="1600" dirty="0"/>
          </a:p>
        </p:txBody>
      </p:sp>
      <p:sp>
        <p:nvSpPr>
          <p:cNvPr id="23" name="lv-d4"/>
          <p:cNvSpPr txBox="1"/>
          <p:nvPr/>
        </p:nvSpPr>
        <p:spPr>
          <a:xfrm>
            <a:off x="1051560" y="3703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Checked after the service charge</a:t>
            </a:r>
            <a:endParaRPr lang="en-US" sz="1300" dirty="0"/>
          </a:p>
        </p:txBody>
      </p:sp>
      <p:sp>
        <p:nvSpPr>
          <p:cNvPr id="24" name="check-card"/>
          <p:cNvSpPr/>
          <p:nvPr/>
        </p:nvSpPr>
        <p:spPr>
          <a:xfrm>
            <a:off x="5669280" y="105156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5" name="check-icon-circle"/>
          <p:cNvSpPr/>
          <p:nvPr/>
        </p:nvSpPr>
        <p:spPr>
          <a:xfrm>
            <a:off x="5897880" y="1280160"/>
            <a:ext cx="640080" cy="640080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pic>
        <p:nvPicPr>
          <p:cNvPr id="26" name="check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0" y="1440180"/>
            <a:ext cx="320040" cy="320040"/>
          </a:xfrm>
          <a:prstGeom prst="rect">
            <a:avLst/>
          </a:prstGeom>
        </p:spPr>
      </p:pic>
      <p:sp>
        <p:nvSpPr>
          <p:cNvPr id="27" name="check-h"/>
          <p:cNvSpPr txBox="1"/>
          <p:nvPr/>
        </p:nvSpPr>
        <p:spPr>
          <a:xfrm>
            <a:off x="589788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Test case</a:t>
            </a:r>
            <a:endParaRPr lang="en-US" sz="1600" dirty="0"/>
          </a:p>
        </p:txBody>
      </p:sp>
      <p:sp>
        <p:nvSpPr>
          <p:cNvPr id="28" name="check-q"/>
          <p:cNvSpPr txBox="1"/>
          <p:nvPr/>
        </p:nvSpPr>
        <p:spPr>
          <a:xfrm>
            <a:off x="58978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7FC4"/>
                </a:solidFill>
              </a:rPr>
              <a:t>For 400 units, what is the final bill?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400 units · step by step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step-card0"/>
          <p:cNvSpPr/>
          <p:nvPr/>
        </p:nvSpPr>
        <p:spPr>
          <a:xfrm>
            <a:off x="45720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5" name="step-h0"/>
          <p:cNvSpPr txBox="1"/>
          <p:nvPr/>
        </p:nvSpPr>
        <p:spPr>
          <a:xfrm>
            <a:off x="68580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Slab bill</a:t>
            </a:r>
            <a:endParaRPr lang="en-US" sz="1600" dirty="0"/>
          </a:p>
        </p:txBody>
      </p:sp>
      <p:sp>
        <p:nvSpPr>
          <p:cNvPr id="6" name="step-v0"/>
          <p:cNvSpPr txBox="1"/>
          <p:nvPr/>
        </p:nvSpPr>
        <p:spPr>
          <a:xfrm>
            <a:off x="68580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FC4"/>
                </a:solidFill>
              </a:rPr>
              <a:t>₹1500</a:t>
            </a:r>
            <a:endParaRPr lang="en-US" sz="4000" dirty="0"/>
          </a:p>
        </p:txBody>
      </p:sp>
      <p:sp>
        <p:nvSpPr>
          <p:cNvPr id="7" name="step-d0"/>
          <p:cNvSpPr txBox="1"/>
          <p:nvPr/>
        </p:nvSpPr>
        <p:spPr>
          <a:xfrm>
            <a:off x="68580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+ 300 + 200×5</a:t>
            </a:r>
            <a:endParaRPr lang="en-US" sz="1300" dirty="0"/>
          </a:p>
        </p:txBody>
      </p:sp>
      <p:sp>
        <p:nvSpPr>
          <p:cNvPr id="8" name="step-card1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9" name="step-h1"/>
          <p:cNvSpPr txBox="1"/>
          <p:nvPr/>
        </p:nvSpPr>
        <p:spPr>
          <a:xfrm>
            <a:off x="352044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+ service charge</a:t>
            </a:r>
            <a:endParaRPr lang="en-US" sz="1600" dirty="0"/>
          </a:p>
        </p:txBody>
      </p:sp>
      <p:sp>
        <p:nvSpPr>
          <p:cNvPr id="10" name="step-v1"/>
          <p:cNvSpPr txBox="1"/>
          <p:nvPr/>
        </p:nvSpPr>
        <p:spPr>
          <a:xfrm>
            <a:off x="352044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FC4"/>
                </a:solidFill>
              </a:rPr>
              <a:t>₹1550</a:t>
            </a:r>
            <a:endParaRPr lang="en-US" sz="4000" dirty="0"/>
          </a:p>
        </p:txBody>
      </p:sp>
      <p:sp>
        <p:nvSpPr>
          <p:cNvPr id="11" name="step-d1"/>
          <p:cNvSpPr txBox="1"/>
          <p:nvPr/>
        </p:nvSpPr>
        <p:spPr>
          <a:xfrm>
            <a:off x="35204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 + 50</a:t>
            </a:r>
            <a:endParaRPr lang="en-US" sz="1300" dirty="0"/>
          </a:p>
        </p:txBody>
      </p:sp>
      <p:sp>
        <p:nvSpPr>
          <p:cNvPr id="12" name="step-card2"/>
          <p:cNvSpPr/>
          <p:nvPr/>
        </p:nvSpPr>
        <p:spPr>
          <a:xfrm>
            <a:off x="612648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3" name="step-h2"/>
          <p:cNvSpPr txBox="1"/>
          <p:nvPr/>
        </p:nvSpPr>
        <p:spPr>
          <a:xfrm>
            <a:off x="635508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+ 10% surcharge</a:t>
            </a:r>
            <a:endParaRPr lang="en-US" sz="1600" dirty="0"/>
          </a:p>
        </p:txBody>
      </p:sp>
      <p:sp>
        <p:nvSpPr>
          <p:cNvPr id="14" name="step-v2"/>
          <p:cNvSpPr txBox="1"/>
          <p:nvPr/>
        </p:nvSpPr>
        <p:spPr>
          <a:xfrm>
            <a:off x="635508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₹1705</a:t>
            </a:r>
            <a:endParaRPr lang="en-US" sz="4000" dirty="0"/>
          </a:p>
        </p:txBody>
      </p:sp>
      <p:sp>
        <p:nvSpPr>
          <p:cNvPr id="15" name="step-d2"/>
          <p:cNvSpPr txBox="1"/>
          <p:nvPr/>
        </p:nvSpPr>
        <p:spPr>
          <a:xfrm>
            <a:off x="635508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1550 &gt; 1000 → 1550 × 1.10</a:t>
            </a:r>
            <a:endParaRPr lang="en-US" sz="1300" dirty="0"/>
          </a:p>
        </p:txBody>
      </p:sp>
      <p:sp>
        <p:nvSpPr>
          <p:cNvPr id="16" name="note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D29"/>
                </a:solidFill>
              </a:rPr>
              <a:t>Order matters: the surcharge is checked after adding the ₹50.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Solution · Levels 2–5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codeA-window"/>
          <p:cNvSpPr/>
          <p:nvPr/>
        </p:nvSpPr>
        <p:spPr>
          <a:xfrm>
            <a:off x="457200" y="96012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A-dot0"/>
          <p:cNvSpPr/>
          <p:nvPr/>
        </p:nvSpPr>
        <p:spPr>
          <a:xfrm>
            <a:off x="6217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A-dot1"/>
          <p:cNvSpPr/>
          <p:nvPr/>
        </p:nvSpPr>
        <p:spPr>
          <a:xfrm>
            <a:off x="8046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A-dot2"/>
          <p:cNvSpPr/>
          <p:nvPr/>
        </p:nvSpPr>
        <p:spPr>
          <a:xfrm>
            <a:off x="9875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A-label"/>
          <p:cNvSpPr txBox="1"/>
          <p:nvPr/>
        </p:nvSpPr>
        <p:spPr>
          <a:xfrm>
            <a:off x="123444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bill.c  (part 1)</a:t>
            </a:r>
            <a:endParaRPr lang="en-US" sz="1000" dirty="0"/>
          </a:p>
        </p:txBody>
      </p:sp>
      <p:sp>
        <p:nvSpPr>
          <p:cNvPr id="9" name="codeA-text"/>
          <p:cNvSpPr txBox="1"/>
          <p:nvPr/>
        </p:nvSpPr>
        <p:spPr>
          <a:xfrm>
            <a:off x="594360" y="1325880"/>
            <a:ext cx="34747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calculateBill(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units);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units;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bill;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units consumed: 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&amp;units);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 = calculateBill(units);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bill = Rs. %.2f\n"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bill);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codeB-window"/>
          <p:cNvSpPr/>
          <p:nvPr/>
        </p:nvSpPr>
        <p:spPr>
          <a:xfrm>
            <a:off x="4343400" y="960120"/>
            <a:ext cx="4343400" cy="3931920"/>
          </a:xfrm>
          <a:prstGeom prst="roundRect">
            <a:avLst>
              <a:gd name="adj" fmla="val 186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codeB-dot0"/>
          <p:cNvSpPr/>
          <p:nvPr/>
        </p:nvSpPr>
        <p:spPr>
          <a:xfrm>
            <a:off x="45079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codeB-dot1"/>
          <p:cNvSpPr/>
          <p:nvPr/>
        </p:nvSpPr>
        <p:spPr>
          <a:xfrm>
            <a:off x="46908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codeB-dot2"/>
          <p:cNvSpPr/>
          <p:nvPr/>
        </p:nvSpPr>
        <p:spPr>
          <a:xfrm>
            <a:off x="48737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codeB-label"/>
          <p:cNvSpPr txBox="1"/>
          <p:nvPr/>
        </p:nvSpPr>
        <p:spPr>
          <a:xfrm>
            <a:off x="5120640" y="10058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bill.c  (part 2)</a:t>
            </a:r>
            <a:endParaRPr lang="en-US" sz="1000" dirty="0"/>
          </a:p>
        </p:txBody>
      </p:sp>
      <p:sp>
        <p:nvSpPr>
          <p:cNvPr id="15" name="codeB-text"/>
          <p:cNvSpPr txBox="1"/>
          <p:nvPr/>
        </p:nvSpPr>
        <p:spPr>
          <a:xfrm>
            <a:off x="4480560" y="1325880"/>
            <a:ext cx="4069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calculateBill(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units)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bill;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(units &lt;=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units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(units &lt;=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(units -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(units -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Level 4: service charge */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 = bill +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7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Level 5: 10% surcharge */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(bill &gt;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bill = bill + bill * 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bill;</a:t>
            </a:r>
            <a:endParaRPr lang="en-US" sz="9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Bonus · Second Largest Number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6A4FD8"/>
          </a:solidFill>
          <a:ln>
            <a:solidFill>
              <a:srgbClr val="6A4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BONUS</a:t>
            </a:r>
            <a:endParaRPr lang="en-US" sz="1300" dirty="0"/>
          </a:p>
        </p:txBody>
      </p:sp>
      <p:sp>
        <p:nvSpPr>
          <p:cNvPr id="4" name="task"/>
          <p:cNvSpPr txBox="1"/>
          <p:nvPr/>
        </p:nvSpPr>
        <p:spPr>
          <a:xfrm>
            <a:off x="457200" y="10972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</a:rPr>
              <a:t>Read n integers and print the second largest.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Use a single loop, without sorting.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D29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</a:rPr>
              <a:t>Uses: loops · conditions · variables · input/output</a:t>
            </a:r>
            <a:endParaRPr lang="en-US" sz="1600" dirty="0"/>
          </a:p>
        </p:txBody>
      </p:sp>
      <p:sp>
        <p:nvSpPr>
          <p:cNvPr id="5" name="code-window"/>
          <p:cNvSpPr/>
          <p:nvPr/>
        </p:nvSpPr>
        <p:spPr>
          <a:xfrm>
            <a:off x="5029200" y="105156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code-dot0"/>
          <p:cNvSpPr/>
          <p:nvPr/>
        </p:nvSpPr>
        <p:spPr>
          <a:xfrm>
            <a:off x="5193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code-dot1"/>
          <p:cNvSpPr/>
          <p:nvPr/>
        </p:nvSpPr>
        <p:spPr>
          <a:xfrm>
            <a:off x="5376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code-dot2"/>
          <p:cNvSpPr/>
          <p:nvPr/>
        </p:nvSpPr>
        <p:spPr>
          <a:xfrm>
            <a:off x="5559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code-label"/>
          <p:cNvSpPr txBox="1"/>
          <p:nvPr/>
        </p:nvSpPr>
        <p:spPr>
          <a:xfrm>
            <a:off x="580644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</a:t>
            </a:r>
            <a:endParaRPr lang="en-US" sz="1000" dirty="0"/>
          </a:p>
        </p:txBody>
      </p:sp>
      <p:sp>
        <p:nvSpPr>
          <p:cNvPr id="10" name="code-text"/>
          <p:cNvSpPr txBox="1"/>
          <p:nvPr/>
        </p:nvSpPr>
        <p:spPr>
          <a:xfrm>
            <a:off x="5166360" y="1417320"/>
            <a:ext cx="33832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10 25 7 40 30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500" dirty="0"/>
          </a:p>
          <a:p>
            <a:pPr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Bonus · solution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codeA-window"/>
          <p:cNvSpPr/>
          <p:nvPr/>
        </p:nvSpPr>
        <p:spPr>
          <a:xfrm>
            <a:off x="457200" y="96012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A-dot0"/>
          <p:cNvSpPr/>
          <p:nvPr/>
        </p:nvSpPr>
        <p:spPr>
          <a:xfrm>
            <a:off x="6217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A-dot1"/>
          <p:cNvSpPr/>
          <p:nvPr/>
        </p:nvSpPr>
        <p:spPr>
          <a:xfrm>
            <a:off x="8046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A-dot2"/>
          <p:cNvSpPr/>
          <p:nvPr/>
        </p:nvSpPr>
        <p:spPr>
          <a:xfrm>
            <a:off x="9875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A-label"/>
          <p:cNvSpPr txBox="1"/>
          <p:nvPr/>
        </p:nvSpPr>
        <p:spPr>
          <a:xfrm>
            <a:off x="1234440" y="1005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second.c  (part 1)</a:t>
            </a:r>
            <a:endParaRPr lang="en-US" sz="1000" dirty="0"/>
          </a:p>
        </p:txBody>
      </p:sp>
      <p:sp>
        <p:nvSpPr>
          <p:cNvPr id="9" name="codeA-text"/>
          <p:cNvSpPr txBox="1"/>
          <p:nvPr/>
        </p:nvSpPr>
        <p:spPr>
          <a:xfrm>
            <a:off x="594360" y="1325880"/>
            <a:ext cx="35661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i, num;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largest, second;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many numbers? 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&amp;n);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&amp;num);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 = num;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 = -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2147483647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codeB-window"/>
          <p:cNvSpPr/>
          <p:nvPr/>
        </p:nvSpPr>
        <p:spPr>
          <a:xfrm>
            <a:off x="4434840" y="960120"/>
            <a:ext cx="4251960" cy="3017520"/>
          </a:xfrm>
          <a:prstGeom prst="roundRect">
            <a:avLst>
              <a:gd name="adj" fmla="val 2424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codeB-dot0"/>
          <p:cNvSpPr/>
          <p:nvPr/>
        </p:nvSpPr>
        <p:spPr>
          <a:xfrm>
            <a:off x="459943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codeB-dot1"/>
          <p:cNvSpPr/>
          <p:nvPr/>
        </p:nvSpPr>
        <p:spPr>
          <a:xfrm>
            <a:off x="478231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codeB-dot2"/>
          <p:cNvSpPr/>
          <p:nvPr/>
        </p:nvSpPr>
        <p:spPr>
          <a:xfrm>
            <a:off x="496519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codeB-label"/>
          <p:cNvSpPr txBox="1"/>
          <p:nvPr/>
        </p:nvSpPr>
        <p:spPr>
          <a:xfrm>
            <a:off x="5212080" y="10058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second.c  (part 2)</a:t>
            </a:r>
            <a:endParaRPr lang="en-US" sz="1000" dirty="0"/>
          </a:p>
        </p:txBody>
      </p:sp>
      <p:sp>
        <p:nvSpPr>
          <p:cNvPr id="15" name="codeB-text"/>
          <p:cNvSpPr txBox="1"/>
          <p:nvPr/>
        </p:nvSpPr>
        <p:spPr>
          <a:xfrm>
            <a:off x="4572000" y="1325880"/>
            <a:ext cx="39776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n; i++)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&amp;num);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(num &gt; largest)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second = largest;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largest = num;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(num &gt; second &amp;&amp; num != largest)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second = num;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"Second largest = %d\n"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second);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out"/>
          <p:cNvSpPr txBox="1"/>
          <p:nvPr/>
        </p:nvSpPr>
        <p:spPr>
          <a:xfrm>
            <a:off x="4434840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</a:t>
            </a:r>
            <a:pPr indent="0" marL="0">
              <a:buNone/>
            </a:pPr>
            <a:r>
              <a:rPr lang="en-US" sz="2000" b="1" dirty="0">
                <a:solidFill>
                  <a:srgbClr val="1E9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Coding Challenge 2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Menu-driven Calculator using Functions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1F7FC4"/>
          </a:solidFill>
          <a:ln>
            <a:solidFill>
              <a:srgbClr val="1F7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Menu-driven calculator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7FC4"/>
          </a:solidFill>
          <a:ln>
            <a:solidFill>
              <a:srgbClr val="1F7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PROBLEM</a:t>
            </a:r>
            <a:endParaRPr lang="en-US" sz="1300" dirty="0"/>
          </a:p>
        </p:txBody>
      </p:sp>
      <p:sp>
        <p:nvSpPr>
          <p:cNvPr id="4" name="menu-window"/>
          <p:cNvSpPr/>
          <p:nvPr/>
        </p:nvSpPr>
        <p:spPr>
          <a:xfrm>
            <a:off x="457200" y="10515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menu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menu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menu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menu-label"/>
          <p:cNvSpPr txBox="1"/>
          <p:nvPr/>
        </p:nvSpPr>
        <p:spPr>
          <a:xfrm>
            <a:off x="1234440" y="1097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menu</a:t>
            </a:r>
            <a:endParaRPr lang="en-US" sz="1000" dirty="0"/>
          </a:p>
        </p:txBody>
      </p:sp>
      <p:sp>
        <p:nvSpPr>
          <p:cNvPr id="9" name="menu-text"/>
          <p:cNvSpPr txBox="1"/>
          <p:nvPr/>
        </p:nvSpPr>
        <p:spPr>
          <a:xfrm>
            <a:off x="594360" y="1417320"/>
            <a:ext cx="32918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Addition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Subtraction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Multiplication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Division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Exit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_</a:t>
            </a:r>
            <a:endParaRPr lang="en-US" sz="1400" dirty="0"/>
          </a:p>
        </p:txBody>
      </p:sp>
      <p:sp>
        <p:nvSpPr>
          <p:cNvPr id="10" name="loop-note"/>
          <p:cNvSpPr txBox="1"/>
          <p:nvPr/>
        </p:nvSpPr>
        <p:spPr>
          <a:xfrm>
            <a:off x="45720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9"/>
                </a:solidFill>
              </a:rPr>
              <a:t>Repeat the menu until the user chooses 5.</a:t>
            </a:r>
            <a:endParaRPr lang="en-US" sz="1500" dirty="0"/>
          </a:p>
        </p:txBody>
      </p:sp>
      <p:sp>
        <p:nvSpPr>
          <p:cNvPr id="11" name="rule-card"/>
          <p:cNvSpPr/>
          <p:nvPr/>
        </p:nvSpPr>
        <p:spPr>
          <a:xfrm>
            <a:off x="4297680" y="1051560"/>
            <a:ext cx="43891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2" name="rule-icon-circle"/>
          <p:cNvSpPr/>
          <p:nvPr/>
        </p:nvSpPr>
        <p:spPr>
          <a:xfrm>
            <a:off x="4526280" y="1261872"/>
            <a:ext cx="502920" cy="50292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13" name="ru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2010" y="1387602"/>
            <a:ext cx="251460" cy="251460"/>
          </a:xfrm>
          <a:prstGeom prst="rect">
            <a:avLst/>
          </a:prstGeom>
        </p:spPr>
      </p:pic>
      <p:sp>
        <p:nvSpPr>
          <p:cNvPr id="14" name="rule-h"/>
          <p:cNvSpPr txBox="1"/>
          <p:nvPr/>
        </p:nvSpPr>
        <p:spPr>
          <a:xfrm>
            <a:off x="51663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34A"/>
                </a:solidFill>
              </a:rPr>
              <a:t>Requirement</a:t>
            </a:r>
            <a:endParaRPr lang="en-US" sz="1800" dirty="0"/>
          </a:p>
        </p:txBody>
      </p:sp>
      <p:sp>
        <p:nvSpPr>
          <p:cNvPr id="15" name="rule-b"/>
          <p:cNvSpPr txBox="1"/>
          <p:nvPr/>
        </p:nvSpPr>
        <p:spPr>
          <a:xfrm>
            <a:off x="452628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9"/>
                </a:solidFill>
              </a:rPr>
              <a:t>Every operation must be its own function:</a:t>
            </a:r>
            <a:endParaRPr lang="en-US" sz="1500" dirty="0"/>
          </a:p>
        </p:txBody>
      </p:sp>
      <p:sp>
        <p:nvSpPr>
          <p:cNvPr id="16" name="protos"/>
          <p:cNvSpPr/>
          <p:nvPr/>
        </p:nvSpPr>
        <p:spPr>
          <a:xfrm>
            <a:off x="4526280" y="233172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EEF1F8"/>
          </a:solidFill>
          <a:ln>
            <a:solidFill>
              <a:srgbClr val="EEF1F8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subtract(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3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</p:txBody>
      </p:sp>
      <p:sp>
        <p:nvSpPr>
          <p:cNvPr id="17" name="uses"/>
          <p:cNvSpPr txBox="1"/>
          <p:nvPr/>
        </p:nvSpPr>
        <p:spPr>
          <a:xfrm>
            <a:off x="4526280" y="3703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Uses: switch · do-while · functions · return values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Solution · part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96012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05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calculator.c  (lines 1–23)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325880"/>
            <a:ext cx="54864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subtract(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choice, a, b;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"\n1. Addition\n2. Subtraction\n"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 Multiplication\n4. Division\n5. Exit\n"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your choice: 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&amp;choice);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090"/>
              </a:lnSpc>
              <a:buNone/>
            </a:pPr>
            <a:r>
              <a:rPr lang="en-US" sz="9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(choice &gt;= 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choice &lt;= 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two numbers: 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scanf(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%d"</a:t>
            </a:r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&amp;a, &amp;b);</a:t>
            </a:r>
            <a:endParaRPr lang="en-US" sz="950" dirty="0"/>
          </a:p>
          <a:p>
            <a:pPr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</p:txBody>
      </p:sp>
      <p:sp>
        <p:nvSpPr>
          <p:cNvPr id="10" name="why"/>
          <p:cNvSpPr txBox="1"/>
          <p:nvPr/>
        </p:nvSpPr>
        <p:spPr>
          <a:xfrm>
            <a:off x="6400800" y="1097280"/>
            <a:ext cx="2286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</a:rPr>
              <a:t>Prototypes on top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so main() can call functions defined later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</a:rPr>
              <a:t>do-while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the menu shows at least once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</a:rPr>
              <a:t>Numbers only for 1–4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no input needed for Exit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Solution · part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codeA-window"/>
          <p:cNvSpPr/>
          <p:nvPr/>
        </p:nvSpPr>
        <p:spPr>
          <a:xfrm>
            <a:off x="457200" y="960120"/>
            <a:ext cx="8229600" cy="3794760"/>
          </a:xfrm>
          <a:prstGeom prst="roundRect">
            <a:avLst>
              <a:gd name="adj" fmla="val 1928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A-dot0"/>
          <p:cNvSpPr/>
          <p:nvPr/>
        </p:nvSpPr>
        <p:spPr>
          <a:xfrm>
            <a:off x="6217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A-dot1"/>
          <p:cNvSpPr/>
          <p:nvPr/>
        </p:nvSpPr>
        <p:spPr>
          <a:xfrm>
            <a:off x="8046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A-dot2"/>
          <p:cNvSpPr/>
          <p:nvPr/>
        </p:nvSpPr>
        <p:spPr>
          <a:xfrm>
            <a:off x="9875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A-label"/>
          <p:cNvSpPr txBox="1"/>
          <p:nvPr/>
        </p:nvSpPr>
        <p:spPr>
          <a:xfrm>
            <a:off x="12344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calculator.c  (lines 25–42)</a:t>
            </a:r>
            <a:endParaRPr lang="en-US" sz="1000" dirty="0"/>
          </a:p>
        </p:txBody>
      </p:sp>
      <p:sp>
        <p:nvSpPr>
          <p:cNvPr id="9" name="codeA-text"/>
          <p:cNvSpPr txBox="1"/>
          <p:nvPr/>
        </p:nvSpPr>
        <p:spPr>
          <a:xfrm>
            <a:off x="594360" y="1325880"/>
            <a:ext cx="79552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(choice)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 = %d\n"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add(a, b));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 = %d\n"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subtract(a, b));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 = %d\n"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multiply(a, b));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 ==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"Cannot divide by zero!\n"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 = %.2f\n"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divide(a, b));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"Goodbye!\n"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choice!\n"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(choice !=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Solution · part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96012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calculator.c  (lines 44–47) · function definitions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325880"/>
            <a:ext cx="7955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     {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 }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subtract(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- b; }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* b; }</a:t>
            </a:r>
            <a:endParaRPr lang="en-US" sz="160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)a / b; }</a:t>
            </a:r>
            <a:endParaRPr lang="en-US" sz="1600" dirty="0"/>
          </a:p>
        </p:txBody>
      </p:sp>
      <p:sp>
        <p:nvSpPr>
          <p:cNvPr id="10" name="pt-card0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1" name="pt-h0"/>
          <p:cNvSpPr txBox="1"/>
          <p:nvPr/>
        </p:nvSpPr>
        <p:spPr>
          <a:xfrm>
            <a:off x="64008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(float)a / b</a:t>
            </a:r>
            <a:endParaRPr lang="en-US" sz="1500" dirty="0"/>
          </a:p>
        </p:txBody>
      </p:sp>
      <p:sp>
        <p:nvSpPr>
          <p:cNvPr id="12" name="pt-d0"/>
          <p:cNvSpPr txBox="1"/>
          <p:nvPr/>
        </p:nvSpPr>
        <p:spPr>
          <a:xfrm>
            <a:off x="64008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Forces real division — 7 / 2 gives 3.50, not 3.00</a:t>
            </a:r>
            <a:endParaRPr lang="en-US" sz="1400" dirty="0"/>
          </a:p>
        </p:txBody>
      </p:sp>
      <p:sp>
        <p:nvSpPr>
          <p:cNvPr id="13" name="pt-card1"/>
          <p:cNvSpPr/>
          <p:nvPr/>
        </p:nvSpPr>
        <p:spPr>
          <a:xfrm>
            <a:off x="324612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4" name="pt-h1"/>
          <p:cNvSpPr txBox="1"/>
          <p:nvPr/>
        </p:nvSpPr>
        <p:spPr>
          <a:xfrm>
            <a:off x="342900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== 0 check</a:t>
            </a:r>
            <a:endParaRPr lang="en-US" sz="1500" dirty="0"/>
          </a:p>
        </p:txBody>
      </p:sp>
      <p:sp>
        <p:nvSpPr>
          <p:cNvPr id="15" name="pt-d1"/>
          <p:cNvSpPr txBox="1"/>
          <p:nvPr/>
        </p:nvSpPr>
        <p:spPr>
          <a:xfrm>
            <a:off x="342900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Done in main() before calling divide() — never divide by zero</a:t>
            </a:r>
            <a:endParaRPr lang="en-US" sz="1400" dirty="0"/>
          </a:p>
        </p:txBody>
      </p:sp>
      <p:sp>
        <p:nvSpPr>
          <p:cNvPr id="16" name="pt-card2"/>
          <p:cNvSpPr/>
          <p:nvPr/>
        </p:nvSpPr>
        <p:spPr>
          <a:xfrm>
            <a:off x="603504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7" name="pt-h2"/>
          <p:cNvSpPr txBox="1"/>
          <p:nvPr/>
        </p:nvSpPr>
        <p:spPr>
          <a:xfrm>
            <a:off x="621792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Defined after main()</a:t>
            </a:r>
            <a:endParaRPr lang="en-US" sz="1500" dirty="0"/>
          </a:p>
        </p:txBody>
      </p:sp>
      <p:sp>
        <p:nvSpPr>
          <p:cNvPr id="18" name="pt-d2"/>
          <p:cNvSpPr txBox="1"/>
          <p:nvPr/>
        </p:nvSpPr>
        <p:spPr>
          <a:xfrm>
            <a:off x="621792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</a:rPr>
              <a:t>Works only because of the prototypes on 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If?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Prototypes · Return types · Integer division · Call by value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E96B3C"/>
          </a:solidFill>
          <a:ln>
            <a:solidFill>
              <a:srgbClr val="E96B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96B3C"/>
          </a:solidFill>
          <a:ln>
            <a:solidFill>
              <a:srgbClr val="E96B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DELETED these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lines: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subtract(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add(a, b) ...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divide(a, b) ...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... 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... }</a:t>
            </a:r>
            <a:endParaRPr lang="en-US" sz="13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The prototypes are removed. Will it compile?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DELETED these 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lines: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subtract(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add(a, b) ...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divide(a, b) ...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... }</a:t>
            </a:r>
            <a:endParaRPr lang="en-US" sz="11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6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... }</a:t>
            </a:r>
            <a:endParaRPr lang="en-US" sz="11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RESULT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conflicting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for 'divide'</a:t>
            </a:r>
            <a:endParaRPr lang="en-US" sz="15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The compiler meets add() before knowing it → implicit declaration warning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It guesses int for divide(), then finds float → 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Fix: keep prototypes, or define functions above main()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96B3C"/>
          </a:solidFill>
          <a:ln>
            <a:solidFill>
              <a:srgbClr val="E96B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 = %d"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add(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happens when this is compiled?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 = %d"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add(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RESULT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invalid use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void expression</a:t>
            </a:r>
            <a:endParaRPr lang="en-US" sz="15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void means the function returns nothing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return a + b; in a void function → warning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printf needs a value, but add() gives none →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96B3C"/>
          </a:solidFill>
          <a:ln>
            <a:solidFill>
              <a:srgbClr val="E96B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/ b;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"%.2f"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divide(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3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/ b;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"%.2f"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divide(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3.00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a / b is int ÷ int → 3, fraction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Only then is 3 converted to float → 3.00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Fix: return (float)a / b; → 3.50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96B3C"/>
          </a:solidFill>
          <a:ln>
            <a:solidFill>
              <a:srgbClr val="E96B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change(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change(x);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4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change(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x)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change(x);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C passes arguments by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change() gets its own copy of 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Changing the copy doesn't touch the original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96B3C"/>
          </a:solidFill>
          <a:ln>
            <a:solidFill>
              <a:srgbClr val="E96B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change(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*x)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*x 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change(&amp;x);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If? · 5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change(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*x)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*x =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change(&amp;x);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&amp;x sends the address of 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*x = 100 writes to that address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Reference-like behaviour — the same trick scanf uses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icon-circle"/>
          <p:cNvSpPr/>
          <p:nvPr/>
        </p:nvSpPr>
        <p:spPr>
          <a:xfrm>
            <a:off x="685800" y="1645920"/>
            <a:ext cx="1463040" cy="146304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pic>
        <p:nvPicPr>
          <p:cNvPr id="3" name="sec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51460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Final Challenge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51460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Scope · Recursion</a:t>
            </a:r>
            <a:endParaRPr lang="en-US" sz="1800" dirty="0"/>
          </a:p>
        </p:txBody>
      </p:sp>
      <p:sp>
        <p:nvSpPr>
          <p:cNvPr id="6" name="round-pill"/>
          <p:cNvSpPr/>
          <p:nvPr/>
        </p:nvSpPr>
        <p:spPr>
          <a:xfrm>
            <a:off x="2514600" y="1097280"/>
            <a:ext cx="1371600" cy="365760"/>
          </a:xfrm>
          <a:prstGeom prst="roundRect">
            <a:avLst>
              <a:gd name="adj" fmla="val 525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ROUND 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Final · Q1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fun()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20"/>
              </a:lnSpc>
              <a:buNone/>
            </a:pPr>
            <a:r>
              <a:rPr lang="en-US" sz="11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fun();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20"/>
              </a:lnSpc>
              <a:buNone/>
            </a:pPr>
            <a:r>
              <a:rPr lang="en-US" sz="11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Final · Q1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fun()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"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fun();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x);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21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10 20 10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The local x inside fun() hides the global 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It exists only while fun() 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main() still sees the global x = 10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Final · Q2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BONUS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 &lt;=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f(n -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f(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prompt-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rompt-icon-circle"/>
          <p:cNvSpPr/>
          <p:nvPr/>
        </p:nvSpPr>
        <p:spPr>
          <a:xfrm>
            <a:off x="6080760" y="1280160"/>
            <a:ext cx="685800" cy="68580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pic>
        <p:nvPicPr>
          <p:cNvPr id="12" name="promp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451610"/>
            <a:ext cx="342900" cy="342900"/>
          </a:xfrm>
          <a:prstGeom prst="rect">
            <a:avLst/>
          </a:prstGeom>
        </p:spPr>
      </p:pic>
      <p:sp>
        <p:nvSpPr>
          <p:cNvPr id="13" name="prompt"/>
          <p:cNvSpPr txBox="1"/>
          <p:nvPr/>
        </p:nvSpPr>
        <p:spPr>
          <a:xfrm>
            <a:off x="60807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D29"/>
                </a:solidFill>
              </a:rPr>
              <a:t>What is printed?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Final · Q2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7132320" y="356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>
            <a:solidFill>
              <a:srgbClr val="1E9E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code-window"/>
          <p:cNvSpPr/>
          <p:nvPr/>
        </p:nvSpPr>
        <p:spPr>
          <a:xfrm>
            <a:off x="457200" y="10515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code-dot0"/>
          <p:cNvSpPr/>
          <p:nvPr/>
        </p:nvSpPr>
        <p:spPr>
          <a:xfrm>
            <a:off x="621792" y="11704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code-dot1"/>
          <p:cNvSpPr/>
          <p:nvPr/>
        </p:nvSpPr>
        <p:spPr>
          <a:xfrm>
            <a:off x="804672" y="11704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code-dot2"/>
          <p:cNvSpPr/>
          <p:nvPr/>
        </p:nvSpPr>
        <p:spPr>
          <a:xfrm>
            <a:off x="987552" y="11704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12344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000" dirty="0"/>
          </a:p>
        </p:txBody>
      </p:sp>
      <p:sp>
        <p:nvSpPr>
          <p:cNvPr id="9" name="code-text"/>
          <p:cNvSpPr txBox="1"/>
          <p:nvPr/>
        </p:nvSpPr>
        <p:spPr>
          <a:xfrm>
            <a:off x="59436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 &lt;=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f(n -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f(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out-label"/>
          <p:cNvSpPr txBox="1"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3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output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51824"/>
          </a:solidFill>
          <a:ln>
            <a:solidFill>
              <a:srgbClr val="151824"/>
            </a:solidFill>
          </a:ln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2200" dirty="0"/>
          </a:p>
        </p:txBody>
      </p:sp>
      <p:sp>
        <p:nvSpPr>
          <p:cNvPr id="12" name="explain"/>
          <p:cNvSpPr txBox="1"/>
          <p:nvPr/>
        </p:nvSpPr>
        <p:spPr>
          <a:xfrm>
            <a:off x="5212080" y="22860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f(4) = 4 × f(3) = 4 × 3 × f(2)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= 4 × 3 × 2 × f(1) = 4 × 3 × 2 ×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</a:rPr>
              <a:t>This is recursion: f(n) computes n!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Concepts covered</a:t>
            </a:r>
            <a:endParaRPr lang="en-US" sz="2800" dirty="0"/>
          </a:p>
        </p:txBody>
      </p:sp>
      <p:sp>
        <p:nvSpPr>
          <p:cNvPr id="3" name="recap-card0"/>
          <p:cNvSpPr/>
          <p:nvPr/>
        </p:nvSpPr>
        <p:spPr>
          <a:xfrm>
            <a:off x="457200" y="1051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4" name="recap-icon0-circle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5" name="recap-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337310"/>
            <a:ext cx="205740" cy="205740"/>
          </a:xfrm>
          <a:prstGeom prst="rect">
            <a:avLst/>
          </a:prstGeom>
        </p:spPr>
      </p:pic>
      <p:sp>
        <p:nvSpPr>
          <p:cNvPr id="6" name="recap-h0"/>
          <p:cNvSpPr txBox="1"/>
          <p:nvPr/>
        </p:nvSpPr>
        <p:spPr>
          <a:xfrm>
            <a:off x="64008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Operators</a:t>
            </a:r>
            <a:endParaRPr lang="en-US" sz="1500" dirty="0"/>
          </a:p>
        </p:txBody>
      </p:sp>
      <p:sp>
        <p:nvSpPr>
          <p:cNvPr id="7" name="recap-d0"/>
          <p:cNvSpPr txBox="1"/>
          <p:nvPr/>
        </p:nvSpPr>
        <p:spPr>
          <a:xfrm>
            <a:off x="64008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++, =, ==, %, ?:</a:t>
            </a:r>
            <a:endParaRPr lang="en-US" sz="1200" dirty="0"/>
          </a:p>
        </p:txBody>
      </p:sp>
      <p:sp>
        <p:nvSpPr>
          <p:cNvPr id="8" name="recap-card1"/>
          <p:cNvSpPr/>
          <p:nvPr/>
        </p:nvSpPr>
        <p:spPr>
          <a:xfrm>
            <a:off x="2560320" y="1051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9" name="recap-icon1-circle"/>
          <p:cNvSpPr/>
          <p:nvPr/>
        </p:nvSpPr>
        <p:spPr>
          <a:xfrm>
            <a:off x="2743200" y="1234440"/>
            <a:ext cx="411480" cy="41148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pic>
        <p:nvPicPr>
          <p:cNvPr id="10" name="recap-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070" y="1337310"/>
            <a:ext cx="205740" cy="205740"/>
          </a:xfrm>
          <a:prstGeom prst="rect">
            <a:avLst/>
          </a:prstGeom>
        </p:spPr>
      </p:pic>
      <p:sp>
        <p:nvSpPr>
          <p:cNvPr id="11" name="recap-h1"/>
          <p:cNvSpPr txBox="1"/>
          <p:nvPr/>
        </p:nvSpPr>
        <p:spPr>
          <a:xfrm>
            <a:off x="274320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Type conversion</a:t>
            </a:r>
            <a:endParaRPr lang="en-US" sz="1500" dirty="0"/>
          </a:p>
        </p:txBody>
      </p:sp>
      <p:sp>
        <p:nvSpPr>
          <p:cNvPr id="12" name="recap-d1"/>
          <p:cNvSpPr txBox="1"/>
          <p:nvPr/>
        </p:nvSpPr>
        <p:spPr>
          <a:xfrm>
            <a:off x="274320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int ÷ int, (float)</a:t>
            </a:r>
            <a:endParaRPr lang="en-US" sz="1200" dirty="0"/>
          </a:p>
        </p:txBody>
      </p:sp>
      <p:sp>
        <p:nvSpPr>
          <p:cNvPr id="13" name="recap-card2"/>
          <p:cNvSpPr/>
          <p:nvPr/>
        </p:nvSpPr>
        <p:spPr>
          <a:xfrm>
            <a:off x="4663440" y="1051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4" name="recap-icon2-circle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15" name="recap-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190" y="1337310"/>
            <a:ext cx="205740" cy="205740"/>
          </a:xfrm>
          <a:prstGeom prst="rect">
            <a:avLst/>
          </a:prstGeom>
        </p:spPr>
      </p:pic>
      <p:sp>
        <p:nvSpPr>
          <p:cNvPr id="16" name="recap-h2"/>
          <p:cNvSpPr txBox="1"/>
          <p:nvPr/>
        </p:nvSpPr>
        <p:spPr>
          <a:xfrm>
            <a:off x="484632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Decisions</a:t>
            </a:r>
            <a:endParaRPr lang="en-US" sz="1500" dirty="0"/>
          </a:p>
        </p:txBody>
      </p:sp>
      <p:sp>
        <p:nvSpPr>
          <p:cNvPr id="17" name="recap-d2"/>
          <p:cNvSpPr txBox="1"/>
          <p:nvPr/>
        </p:nvSpPr>
        <p:spPr>
          <a:xfrm>
            <a:off x="484632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if-else ladder, switch</a:t>
            </a:r>
            <a:endParaRPr lang="en-US" sz="1200" dirty="0"/>
          </a:p>
        </p:txBody>
      </p:sp>
      <p:sp>
        <p:nvSpPr>
          <p:cNvPr id="18" name="recap-card3"/>
          <p:cNvSpPr/>
          <p:nvPr/>
        </p:nvSpPr>
        <p:spPr>
          <a:xfrm>
            <a:off x="6766560" y="1051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9" name="recap-icon3-circle"/>
          <p:cNvSpPr/>
          <p:nvPr/>
        </p:nvSpPr>
        <p:spPr>
          <a:xfrm>
            <a:off x="6949440" y="1234440"/>
            <a:ext cx="411480" cy="411480"/>
          </a:xfrm>
          <a:prstGeom prst="ellipse">
            <a:avLst/>
          </a:prstGeom>
          <a:solidFill>
            <a:srgbClr val="6A4FD8"/>
          </a:solidFill>
          <a:ln w="12700">
            <a:solidFill>
              <a:srgbClr val="6A4FD8"/>
            </a:solidFill>
            <a:prstDash val="solid"/>
          </a:ln>
        </p:spPr>
      </p:sp>
      <p:pic>
        <p:nvPicPr>
          <p:cNvPr id="20" name="recap-icon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337310"/>
            <a:ext cx="205740" cy="205740"/>
          </a:xfrm>
          <a:prstGeom prst="rect">
            <a:avLst/>
          </a:prstGeom>
        </p:spPr>
      </p:pic>
      <p:sp>
        <p:nvSpPr>
          <p:cNvPr id="21" name="recap-h3"/>
          <p:cNvSpPr txBox="1"/>
          <p:nvPr/>
        </p:nvSpPr>
        <p:spPr>
          <a:xfrm>
            <a:off x="694944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Loops</a:t>
            </a:r>
            <a:endParaRPr lang="en-US" sz="1500" dirty="0"/>
          </a:p>
        </p:txBody>
      </p:sp>
      <p:sp>
        <p:nvSpPr>
          <p:cNvPr id="22" name="recap-d3"/>
          <p:cNvSpPr txBox="1"/>
          <p:nvPr/>
        </p:nvSpPr>
        <p:spPr>
          <a:xfrm>
            <a:off x="694944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for, while, do-while</a:t>
            </a:r>
            <a:endParaRPr lang="en-US" sz="1200" dirty="0"/>
          </a:p>
        </p:txBody>
      </p:sp>
      <p:sp>
        <p:nvSpPr>
          <p:cNvPr id="23" name="recap-card4"/>
          <p:cNvSpPr/>
          <p:nvPr/>
        </p:nvSpPr>
        <p:spPr>
          <a:xfrm>
            <a:off x="457200" y="283464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4" name="recap-icon4-circle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</p:sp>
      <p:pic>
        <p:nvPicPr>
          <p:cNvPr id="25" name="recap-icon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120390"/>
            <a:ext cx="205740" cy="205740"/>
          </a:xfrm>
          <a:prstGeom prst="rect">
            <a:avLst/>
          </a:prstGeom>
        </p:spPr>
      </p:pic>
      <p:sp>
        <p:nvSpPr>
          <p:cNvPr id="26" name="recap-h4"/>
          <p:cNvSpPr txBox="1"/>
          <p:nvPr/>
        </p:nvSpPr>
        <p:spPr>
          <a:xfrm>
            <a:off x="64008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Input / output</a:t>
            </a:r>
            <a:endParaRPr lang="en-US" sz="1500" dirty="0"/>
          </a:p>
        </p:txBody>
      </p:sp>
      <p:sp>
        <p:nvSpPr>
          <p:cNvPr id="27" name="recap-d4"/>
          <p:cNvSpPr txBox="1"/>
          <p:nvPr/>
        </p:nvSpPr>
        <p:spPr>
          <a:xfrm>
            <a:off x="64008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scanf with &amp;, printf</a:t>
            </a:r>
            <a:endParaRPr lang="en-US" sz="1200" dirty="0"/>
          </a:p>
        </p:txBody>
      </p:sp>
      <p:sp>
        <p:nvSpPr>
          <p:cNvPr id="28" name="recap-card5"/>
          <p:cNvSpPr/>
          <p:nvPr/>
        </p:nvSpPr>
        <p:spPr>
          <a:xfrm>
            <a:off x="2560320" y="283464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9" name="recap-icon5-circle"/>
          <p:cNvSpPr/>
          <p:nvPr/>
        </p:nvSpPr>
        <p:spPr>
          <a:xfrm>
            <a:off x="2743200" y="3017520"/>
            <a:ext cx="411480" cy="411480"/>
          </a:xfrm>
          <a:prstGeom prst="ellipse">
            <a:avLst/>
          </a:prstGeom>
          <a:solidFill>
            <a:srgbClr val="1F7FC4"/>
          </a:solidFill>
          <a:ln w="12700">
            <a:solidFill>
              <a:srgbClr val="1F7FC4"/>
            </a:solidFill>
            <a:prstDash val="solid"/>
          </a:ln>
        </p:spPr>
      </p:sp>
      <p:pic>
        <p:nvPicPr>
          <p:cNvPr id="30" name="recap-icon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6070" y="3120390"/>
            <a:ext cx="205740" cy="205740"/>
          </a:xfrm>
          <a:prstGeom prst="rect">
            <a:avLst/>
          </a:prstGeom>
        </p:spPr>
      </p:pic>
      <p:sp>
        <p:nvSpPr>
          <p:cNvPr id="31" name="recap-h5"/>
          <p:cNvSpPr txBox="1"/>
          <p:nvPr/>
        </p:nvSpPr>
        <p:spPr>
          <a:xfrm>
            <a:off x="274320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Functions</a:t>
            </a:r>
            <a:endParaRPr lang="en-US" sz="1500" dirty="0"/>
          </a:p>
        </p:txBody>
      </p:sp>
      <p:sp>
        <p:nvSpPr>
          <p:cNvPr id="32" name="recap-d5"/>
          <p:cNvSpPr txBox="1"/>
          <p:nvPr/>
        </p:nvSpPr>
        <p:spPr>
          <a:xfrm>
            <a:off x="274320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prototype, return, void</a:t>
            </a:r>
            <a:endParaRPr lang="en-US" sz="1200" dirty="0"/>
          </a:p>
        </p:txBody>
      </p:sp>
      <p:sp>
        <p:nvSpPr>
          <p:cNvPr id="33" name="recap-card6"/>
          <p:cNvSpPr/>
          <p:nvPr/>
        </p:nvSpPr>
        <p:spPr>
          <a:xfrm>
            <a:off x="4663440" y="283464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4" name="recap-icon6-circle"/>
          <p:cNvSpPr/>
          <p:nvPr/>
        </p:nvSpPr>
        <p:spPr>
          <a:xfrm>
            <a:off x="4846320" y="3017520"/>
            <a:ext cx="411480" cy="411480"/>
          </a:xfrm>
          <a:prstGeom prst="ellipse">
            <a:avLst/>
          </a:prstGeom>
          <a:solidFill>
            <a:srgbClr val="E96B3C"/>
          </a:solidFill>
          <a:ln w="12700">
            <a:solidFill>
              <a:srgbClr val="E96B3C"/>
            </a:solidFill>
            <a:prstDash val="solid"/>
          </a:ln>
        </p:spPr>
      </p:sp>
      <p:pic>
        <p:nvPicPr>
          <p:cNvPr id="35" name="recap-icon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9190" y="3120390"/>
            <a:ext cx="205740" cy="205740"/>
          </a:xfrm>
          <a:prstGeom prst="rect">
            <a:avLst/>
          </a:prstGeom>
        </p:spPr>
      </p:pic>
      <p:sp>
        <p:nvSpPr>
          <p:cNvPr id="36" name="recap-h6"/>
          <p:cNvSpPr txBox="1"/>
          <p:nvPr/>
        </p:nvSpPr>
        <p:spPr>
          <a:xfrm>
            <a:off x="484632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Call by value</a:t>
            </a:r>
            <a:endParaRPr lang="en-US" sz="1500" dirty="0"/>
          </a:p>
        </p:txBody>
      </p:sp>
      <p:sp>
        <p:nvSpPr>
          <p:cNvPr id="37" name="recap-d6"/>
          <p:cNvSpPr txBox="1"/>
          <p:nvPr/>
        </p:nvSpPr>
        <p:spPr>
          <a:xfrm>
            <a:off x="484632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copies vs addresses</a:t>
            </a:r>
            <a:endParaRPr lang="en-US" sz="1200" dirty="0"/>
          </a:p>
        </p:txBody>
      </p:sp>
      <p:sp>
        <p:nvSpPr>
          <p:cNvPr id="38" name="recap-card7"/>
          <p:cNvSpPr/>
          <p:nvPr/>
        </p:nvSpPr>
        <p:spPr>
          <a:xfrm>
            <a:off x="6766560" y="283464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9" name="recap-icon7-circle"/>
          <p:cNvSpPr/>
          <p:nvPr/>
        </p:nvSpPr>
        <p:spPr>
          <a:xfrm>
            <a:off x="6949440" y="3017520"/>
            <a:ext cx="411480" cy="41148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pic>
        <p:nvPicPr>
          <p:cNvPr id="40" name="recap-icon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2310" y="3120390"/>
            <a:ext cx="205740" cy="205740"/>
          </a:xfrm>
          <a:prstGeom prst="rect">
            <a:avLst/>
          </a:prstGeom>
        </p:spPr>
      </p:pic>
      <p:sp>
        <p:nvSpPr>
          <p:cNvPr id="41" name="recap-h7"/>
          <p:cNvSpPr txBox="1"/>
          <p:nvPr/>
        </p:nvSpPr>
        <p:spPr>
          <a:xfrm>
            <a:off x="694944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</a:rPr>
              <a:t>Scope &amp; recursion</a:t>
            </a:r>
            <a:endParaRPr lang="en-US" sz="1500" dirty="0"/>
          </a:p>
        </p:txBody>
      </p:sp>
      <p:sp>
        <p:nvSpPr>
          <p:cNvPr id="42" name="recap-d7"/>
          <p:cNvSpPr txBox="1"/>
          <p:nvPr/>
        </p:nvSpPr>
        <p:spPr>
          <a:xfrm>
            <a:off x="694944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local vs global, f(n-1)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Practice task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E0"/>
                </a:solidFill>
              </a:rPr>
              <a:t>Add a 6th option to the calculator: Remainder (%), implemented as its own function.</a:t>
            </a:r>
            <a:endParaRPr lang="en-US" sz="1800" dirty="0"/>
          </a:p>
        </p:txBody>
      </p:sp>
      <p:sp>
        <p:nvSpPr>
          <p:cNvPr id="4" name="end-icon-circle"/>
          <p:cNvSpPr/>
          <p:nvPr/>
        </p:nvSpPr>
        <p:spPr>
          <a:xfrm>
            <a:off x="6309360" y="1463040"/>
            <a:ext cx="1828800" cy="182880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pic>
        <p:nvPicPr>
          <p:cNvPr id="5" name="end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202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 Challenge Lab">
  <a:themeElements>
    <a:clrScheme name="C Challenge Lab">
      <a:dk1>
        <a:srgbClr val="1A1D29"/>
      </a:dk1>
      <a:lt1>
        <a:srgbClr val="FFFFFF"/>
      </a:lt1>
      <a:dk2>
        <a:srgbClr val="2B3044"/>
      </a:dk2>
      <a:lt2>
        <a:srgbClr val="F4F5F9"/>
      </a:lt2>
      <a:accent1>
        <a:srgbClr val="E8961A"/>
      </a:accent1>
      <a:accent2>
        <a:srgbClr val="1E9E63"/>
      </a:accent2>
      <a:accent3>
        <a:srgbClr val="D9434A"/>
      </a:accent3>
      <a:accent4>
        <a:srgbClr val="6A4FD8"/>
      </a:accent4>
      <a:accent5>
        <a:srgbClr val="1F7FC4"/>
      </a:accent5>
      <a:accent6>
        <a:srgbClr val="E96B3C"/>
      </a:accent6>
      <a:hlink>
        <a:srgbClr val="1F7FC4"/>
      </a:hlink>
      <a:folHlink>
        <a:srgbClr val="6A4FD8"/>
      </a:folHlink>
    </a:clrScheme>
    <a:fontScheme name="C Challenge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Challenge — Online Coding Lab</dc:title>
  <dc:subject>PptxGenJS Presentation</dc:subject>
  <dc:creator>Jasmeet Kaur</dc:creator>
  <cp:lastModifiedBy>Jasmeet Kaur</cp:lastModifiedBy>
  <cp:revision>1</cp:revision>
  <dcterms:created xsi:type="dcterms:W3CDTF">2026-10-05T09:26:22Z</dcterms:created>
  <dcterms:modified xsi:type="dcterms:W3CDTF">2026-10-05T09:26:22Z</dcterms:modified>
</cp:coreProperties>
</file>