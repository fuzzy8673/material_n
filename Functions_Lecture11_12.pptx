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81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LECTURE 11 &amp;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Functions in C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“Why Functions?” to Pointers and Call-by-Value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00837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Prototype, Definition &amp; Call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311810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79008" y="300837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&amp; Arguments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4290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of Functions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353872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779008" y="34290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by Value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4962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("Call by Reference")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3959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779008" y="384962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Lifecycle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26307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1663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declare, and call functions; use parameters and return values; identify the four function types; and understand call-by-value together with pointer-based modification.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Functions?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186416" y="384048"/>
            <a:ext cx="14538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186416" y="384048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“Suppose you have to calculate the sum of two numbers 10 times. Would you write the same code 10 times?”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2496312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FUNCTIONS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770632"/>
            <a:ext cx="4992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10; b = 20;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a + b;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sum);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30; b = 40;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a + b;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sum);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...and so 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423160"/>
            <a:ext cx="5468112" cy="1280160"/>
          </a:xfrm>
          <a:prstGeom prst="roundRect">
            <a:avLst>
              <a:gd name="adj" fmla="val 6429"/>
            </a:avLst>
          </a:prstGeom>
          <a:solidFill>
            <a:srgbClr val="EAF6EF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36792" y="2496312"/>
            <a:ext cx="5138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FUNCTION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73368" y="2770632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sum(10, 20);</a:t>
            </a:r>
            <a:endParaRPr lang="en-US" sz="16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sum(30, 40);</a:t>
            </a:r>
            <a:endParaRPr lang="en-US" sz="16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sum(50, 60);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886200"/>
            <a:ext cx="5468112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functions, we get: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431596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code • Difficult maintenance • Less readability • More errors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EAF6E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561441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5907024"/>
            <a:ext cx="105796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block of code designed to perform a specific task.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29316" y="384048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29316" y="384048"/>
            <a:ext cx="11109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restaurant. You don't tell the chef every step every time you order pasta — you simply say: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BF3E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Pasta.”   — the chef already knows the procedure.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105656" y="3415284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8264" y="320040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4398264" y="32004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Make Pasta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955280" y="3415284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320040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32004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arrives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programming, this becomes: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548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 calls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105656" y="4969764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98264" y="475488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398264" y="47548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 performs calculation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55280" y="4969764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8247888" y="475488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47888" y="47548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88873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6181344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calculateSum(); means: “Execute the code that performs the sum.”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Structure of a Function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43616" y="384048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643616" y="384048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581912"/>
            <a:ext cx="10762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1856232"/>
            <a:ext cx="10689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return_type function_name(parameters)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statements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91672" cy="2011680"/>
          </a:xfrm>
          <a:prstGeom prst="roundRect">
            <a:avLst>
              <a:gd name="adj" fmla="val 4091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456432"/>
            <a:ext cx="10762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730752"/>
            <a:ext cx="10689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sum;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= a + b;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6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5778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  </a:t>
            </a: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    </a:t>
            </a:r>
            <a:r>
              <a:rPr lang="en-US" sz="18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a, int b)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      </a:t>
            </a: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      </a:t>
            </a:r>
            <a:r>
              <a:rPr lang="en-US" sz="13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Important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00716" y="384048"/>
            <a:ext cx="13395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300716" y="384048"/>
            <a:ext cx="13395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367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Prototype / Declaration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965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function with this name exists."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760720" y="150876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add(int, int);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24912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6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8529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Function Definition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31821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actual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60720" y="2724912"/>
            <a:ext cx="5669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{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Function Call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" y="47640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executes the function.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60720" y="4306824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add(10, 20);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Lifecycle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00716" y="384048"/>
            <a:ext cx="13395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300716" y="384048"/>
            <a:ext cx="13395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Prototype  — “function exists”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75604" y="2286000"/>
            <a:ext cx="237744" cy="25603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54203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33418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4203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Definition  — “what function does”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75604" y="3227832"/>
            <a:ext cx="237744" cy="25603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83864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8386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 — function executes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75604" y="4169664"/>
            <a:ext cx="237744" cy="25603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425696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2569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532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 →  </a:t>
            </a:r>
            <a:r>
              <a:rPr lang="en-US" sz="15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add(10,20)</a:t>
            </a:r>
            <a:r>
              <a:rPr lang="en-US" sz="15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10 + 20  →  </a:t>
            </a:r>
            <a:r>
              <a:rPr lang="en-US" sz="155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30</a:t>
            </a:r>
            <a:r>
              <a:rPr lang="en-US" sz="15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result = 30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Example — Sum of Two Numbers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72216" y="384048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872216" y="38404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4663440"/>
          </a:xfrm>
          <a:prstGeom prst="roundRect">
            <a:avLst>
              <a:gd name="adj" fmla="val 1765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b);        // prototype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x, y, result;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two numbers: ");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 %d", &amp;x, &amp;y);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add(x, y);       // call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printf("Sum = %d", result);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        // definition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sum;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= a + b;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sum;</a:t>
            </a:r>
            <a:endParaRPr lang="en-US" sz="113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57916" y="384048"/>
            <a:ext cx="8823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57916" y="384048"/>
            <a:ext cx="8823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17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10  20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3931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1A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Program starts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main()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1A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 enters values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10, y = 20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1A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 = add(x, y);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add(10, 20) called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1A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add(int a, int b)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= 10, b = 20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1A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 = a + b;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 = 30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1A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 sum;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returns 30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1A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 in main()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 = 30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TERMINOLOGY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vs. Arguments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72116" y="384048"/>
            <a:ext cx="15681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072116" y="384048"/>
            <a:ext cx="1568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written in the function definition.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468112" cy="2103120"/>
          </a:xfrm>
          <a:prstGeom prst="roundRect">
            <a:avLst>
              <a:gd name="adj" fmla="val 3913"/>
            </a:avLst>
          </a:prstGeom>
          <a:solidFill>
            <a:srgbClr val="F6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values passed during the function call.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64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add(x, y);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986784"/>
            <a:ext cx="10689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0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add(10, 20);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Arguments  = 10, 20</a:t>
            </a:r>
            <a:endParaRPr lang="en-US" sz="19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 = a, b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TERMINOLOGY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 Function Prototype?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00716" y="384048"/>
            <a:ext cx="13395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300716" y="384048"/>
            <a:ext cx="13395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add(int, int);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b);      // both are valid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82549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118104"/>
            <a:ext cx="10579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the C standard/compiler, calling a function before the compiler has seen an appropriate declaration can cause a diagnostic or error.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4416552"/>
            <a:ext cx="10762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DECLARE BEFORE MAIN()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4690872"/>
            <a:ext cx="10689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add(int, int);       // prototype comes first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 = add(10, 20);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ACTIVITY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Activity — Identify the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15016" y="38404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415016" y="384048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6309360" cy="4434840"/>
          </a:xfrm>
          <a:prstGeom prst="roundRect">
            <a:avLst>
              <a:gd name="adj" fmla="val 185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09344"/>
            <a:ext cx="590702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square(int n);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result;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square(5);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printf("%d", result);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square(int n)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n;</a:t>
            </a:r>
            <a:endParaRPr lang="en-US" sz="13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1463040"/>
            <a:ext cx="4325112" cy="4434840"/>
          </a:xfrm>
          <a:prstGeom prst="roundRect">
            <a:avLst>
              <a:gd name="adj" fmla="val 190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3800" y="19202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prototype?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function call?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definition?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Parameter? Argument?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printed?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43800" y="4114800"/>
            <a:ext cx="3867912" cy="1600200"/>
          </a:xfrm>
          <a:prstGeom prst="roundRect">
            <a:avLst>
              <a:gd name="adj" fmla="val 5143"/>
            </a:avLst>
          </a:prstGeom>
          <a:solidFill>
            <a:srgbClr val="334186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4224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26680" y="44805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·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Functions Improve Programming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15016" y="38404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415016" y="384048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68112" cy="123444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69164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18488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2039112"/>
            <a:ext cx="496519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multiple times.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468112" cy="123444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73368" y="169164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1618488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64808" y="2039112"/>
            <a:ext cx="496519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program can be divided into smaller tasks.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89504"/>
            <a:ext cx="5468112" cy="123444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3072384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999232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1248" y="3419856"/>
            <a:ext cx="496519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calculateSalary(); vs. 30 lines of code.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2889504"/>
            <a:ext cx="5468112" cy="123444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73368" y="3072384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2999232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Debugging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64808" y="3419856"/>
            <a:ext cx="496519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calculation is wrong, check that function.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270248"/>
            <a:ext cx="5468112" cy="123444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445312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453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379976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41248" y="4800600"/>
            <a:ext cx="496519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function once, not every occurrence.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FUNCTION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of Functions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29316" y="384048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29316" y="384048"/>
            <a:ext cx="11109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four possible combinations of parameters and return value: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2651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9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Value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892040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502005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" y="5312664"/>
            <a:ext cx="10579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write one example program for each of the four types, then compare them side by side.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FUNCTION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— No Arguments, No Return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43616" y="384048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643616" y="384048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3429000"/>
          </a:xfrm>
          <a:prstGeom prst="roundRect">
            <a:avLst>
              <a:gd name="adj" fmla="val 2400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greet()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 Students!\n");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greet();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19379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→ No        Return value → No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greet()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FUNCTION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— Arguments, No Return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43616" y="384048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643616" y="384048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3657600"/>
          </a:xfrm>
          <a:prstGeom prst="roundRect">
            <a:avLst>
              <a:gd name="adj" fmla="val 2250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displaySum(int a, int b)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sum = a + b;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printf("Sum = %d", sum);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displaySum(10, 20);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→ Yes        Return value → No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displaySum(int a, int b)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FUNCTION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— No Arguments, Return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43616" y="384048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643616" y="384048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4114800"/>
          </a:xfrm>
          <a:prstGeom prst="roundRect">
            <a:avLst>
              <a:gd name="adj" fmla="val 2000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getNumber()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n;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a number: ");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&amp;n);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n;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number = getNumber();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printf("You entered: %d", number);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7607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→ No        Return value → Yes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FUNCTION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 — Arguments, Return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43616" y="384048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643616" y="384048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3657600"/>
          </a:xfrm>
          <a:prstGeom prst="roundRect">
            <a:avLst>
              <a:gd name="adj" fmla="val 2250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 = add(10, 20);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printf("Sum = %d", result);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30352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→ Yes        Return value → Yes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FUNCTION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Four Types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29316" y="384048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29316" y="384048"/>
            <a:ext cx="11109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want to calculate the square of 5 — here's how each type looks: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6F7F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75688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368296"/>
            <a:ext cx="5065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square()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printf("%d",5*5);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3456432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input, no return.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6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075688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3368" y="2368296"/>
            <a:ext cx="5065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square(int n)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printf("%d",n*n);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3456432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exists, no return.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6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087368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379976"/>
            <a:ext cx="5065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square()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n=5;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n*n;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5468112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parameter, returns value.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6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4087368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73368" y="4379976"/>
            <a:ext cx="5065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square(int n)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n*n;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73368" y="5468112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value.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FUNCTION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Trick, and What void Means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72216" y="384048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872216" y="38404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add   (int a, int b)</a:t>
            </a:r>
            <a:endParaRPr lang="en-US" sz="16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               ↑</a:t>
            </a:r>
            <a:endParaRPr lang="en-US" sz="16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something    takes arguments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28269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575304"/>
            <a:ext cx="105796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LEFT of the function name for the return type, and INSIDE () for the parameters.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2148840"/>
          </a:xfrm>
          <a:prstGeom prst="roundRect">
            <a:avLst>
              <a:gd name="adj" fmla="val 3830"/>
            </a:avLst>
          </a:prstGeom>
          <a:solidFill>
            <a:srgbClr val="F6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708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display()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828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this function does not return a value.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463C"/>
                </a:solidFill>
              </a:rPr>
              <a:t>✗  </a:t>
            </a:r>
            <a:r>
              <a:rPr lang="en-US" sz="1500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greet();</a:t>
            </a:r>
            <a:r>
              <a:rPr lang="en-US" sz="1300" dirty="0">
                <a:solidFill>
                  <a:srgbClr val="6E78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invalid — greet() returns nothing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PARAMETER PASSING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by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43516" y="384048"/>
            <a:ext cx="17967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843516" y="384048"/>
            <a:ext cx="17967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BY VALUE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3886200"/>
          </a:xfrm>
          <a:prstGeom prst="roundRect">
            <a:avLst>
              <a:gd name="adj" fmla="val 2118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change(int x)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100;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printf("Before = %d\n", a);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change(a);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printf("After = %d\n", a);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EAF6E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577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Before = 10     After = 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PARAMETER PASSING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Diagram — Call by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43616" y="384048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643616" y="384048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103120" cy="777240"/>
          </a:xfrm>
          <a:prstGeom prst="roundRect">
            <a:avLst>
              <a:gd name="adj" fmla="val 10588"/>
            </a:avLst>
          </a:prstGeom>
          <a:solidFill>
            <a:srgbClr val="F6F7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80360" y="2057400"/>
            <a:ext cx="1097280" cy="32004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813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of value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2103120" cy="777240"/>
          </a:xfrm>
          <a:prstGeom prst="roundRect">
            <a:avLst>
              <a:gd name="adj" fmla="val 10588"/>
            </a:avLst>
          </a:prstGeom>
          <a:solidFill>
            <a:srgbClr val="FBF3E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64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230368" y="2743200"/>
            <a:ext cx="237744" cy="320040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3474720"/>
            <a:ext cx="2103120" cy="777240"/>
          </a:xfrm>
          <a:prstGeom prst="roundRect">
            <a:avLst>
              <a:gd name="adj" fmla="val 10588"/>
            </a:avLst>
          </a:prstGeom>
          <a:solidFill>
            <a:srgbClr val="FBEDE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3474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still: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2103120" cy="777240"/>
          </a:xfrm>
          <a:prstGeom prst="roundRect">
            <a:avLst>
              <a:gd name="adj" fmla="val 10588"/>
            </a:avLst>
          </a:prstGeom>
          <a:solidFill>
            <a:srgbClr val="EAF6E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74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91672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83717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5129784"/>
            <a:ext cx="10579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call by value, the function receives a COPY of the value.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variable is unchanged.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PARAMETER PASSING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Using Call by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29316" y="384048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29316" y="384048"/>
            <a:ext cx="11109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#1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3246120"/>
          </a:xfrm>
          <a:prstGeom prst="roundRect">
            <a:avLst>
              <a:gd name="adj" fmla="val 2535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swap(int a, int b)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temp;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= a;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b;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temp;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10, y = 20;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swap(x, y);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FBEDE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9377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x = 10, y = 20   (unchanged)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5778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570585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5998464"/>
            <a:ext cx="105796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swap happens only INSIDE the function — a and b are copies of x and 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PARAMETER PASSING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“Call by Reference” in C — An Important Correction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186416" y="384048"/>
            <a:ext cx="14538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186416" y="384048"/>
            <a:ext cx="1453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FBEDE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 does NOT have a true call-by-reference mechanism like C++ references. C passes arguments BY VALUE.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modify the original variables, we pass their addresses using pointers.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EAF6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673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introductory C courses, this is commonly called: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“Call by reference using pointers”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" y="5404104"/>
            <a:ext cx="10579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it this way to first-semester students without getting into the formal C++ reference terminology.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POINTERS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Using Addresses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29316" y="384048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29316" y="384048"/>
            <a:ext cx="11109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#2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3429000"/>
          </a:xfrm>
          <a:prstGeom prst="roundRect">
            <a:avLst>
              <a:gd name="adj" fmla="val 2400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swap(int *a, int *b)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temp;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= *a;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*a = *b;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*b = temp;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10, y = 20;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swap(&amp;x, &amp;y);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EAF6E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1206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x = 20, y = 10   (swapped!)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POINTERS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&amp; and *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15016" y="38404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415016" y="384048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address of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&amp;x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means “address of x”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68112" cy="2377440"/>
          </a:xfrm>
          <a:prstGeom prst="roundRect">
            <a:avLst>
              <a:gd name="adj" fmla="val 3462"/>
            </a:avLst>
          </a:prstGeom>
          <a:solidFill>
            <a:srgbClr val="F6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value stored at that address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*a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means “value at the address stored in a”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91672" cy="21945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33425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MEMORY TRICK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4626864"/>
            <a:ext cx="1057960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→  value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&amp;x  →  address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  →  value at the address p points to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POINTERS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Diagram — Swap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43616" y="384048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643616" y="384048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F6F7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  (addr 1000)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F6F7F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20  (addr 2000)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75604" y="2697480"/>
            <a:ext cx="237744" cy="320040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swap(&amp;x, &amp;y);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swap()  —  function receives addresses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64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1000  → 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384048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FBF3E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38404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64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2000  → 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5038344"/>
            <a:ext cx="106893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*a = *b;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means: value at address 1000 = value at address 2000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ORIGINAL variables are modified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POINTERS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by Value vs. Reference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29316" y="384048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29316" y="384048"/>
            <a:ext cx="11109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3840480"/>
        </p:xfrm>
        <a:graphic>
          <a:graphicData uri="http://schemas.openxmlformats.org/drawingml/2006/table">
            <a:tbl>
              <a:tblPr/>
              <a:tblGrid>
                <a:gridCol w="377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by Value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Address-Based ("Reference")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passed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Address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pointers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variable modified?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swap(x, y)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swap(&amp;x, &amp;y)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parameter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a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*a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321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566013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5952744"/>
            <a:ext cx="105796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value      &amp;x = address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 · ACTIVITY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Tracing Exercise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15016" y="38404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415016" y="384048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1672" cy="2926080"/>
          </a:xfrm>
          <a:prstGeom prst="roundRect">
            <a:avLst>
              <a:gd name="adj" fmla="val 2813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55064"/>
            <a:ext cx="1068933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change(int *x)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*x = *x + 10;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20;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change(&amp;a);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printf("After = %d\n", a);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874520"/>
        </p:xfrm>
        <a:graphic>
          <a:graphicData uri="http://schemas.openxmlformats.org/drawingml/2006/table">
            <a:tbl>
              <a:tblPr/>
              <a:tblGrid>
                <a:gridCol w="7434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*x (inside change)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*x = *x + 10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function,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15016" y="38404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415016" y="384048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0116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greet() — prints a welcome message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— returns the sum of two integers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square() / cube() — returns n² or n³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isEven() — prints even/odd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maximum() — returns the larger of two numbers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calculateArea() — area of a circle from radius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6F7F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subtract / multiply / divide as separate functions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of three numbers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 of a number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digits, sum of digits, reverse a number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 number is a palindrome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064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5934456"/>
            <a:ext cx="10579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6227064"/>
            <a:ext cx="105796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4-function calculator menu: add(), subtract(), multiply(), divide().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 —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57916" y="384048"/>
            <a:ext cx="88239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57916" y="384048"/>
            <a:ext cx="8823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55064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550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600200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984248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code designed to perform a specific task.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655064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6550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57416" y="1600200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8232" y="1984248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→ Definition → Call.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679192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282549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825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770632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 Arguments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154680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declared in the definition; arguments are passed at the call.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2679192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282549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825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57416" y="2770632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8232" y="3154680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No/Yes parameters × No/Yes return value.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849624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99592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995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3941064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4325112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does not return a value.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3849624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399592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995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757416" y="3941064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by Value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28232" y="4325112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receives a COPY — the original is unchanged.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020056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516636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5166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33856" y="5111496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("by Reference")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" y="5495544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&amp;x lets *p modify the original variable.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72200" y="5020056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355080" y="516636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5166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757416" y="5111496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Passes by Value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28232" y="5495544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pointers are how we simulate reference behavior.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2551</Words>
  <Application>Microsoft Office PowerPoint</Application>
  <PresentationFormat>Widescreen</PresentationFormat>
  <Paragraphs>594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SOUMYADIP JANA</cp:lastModifiedBy>
  <cp:revision>2</cp:revision>
  <dcterms:created xsi:type="dcterms:W3CDTF">2026-08-31T02:46:11Z</dcterms:created>
  <dcterms:modified xsi:type="dcterms:W3CDTF">2026-09-09T04:23:04Z</dcterms:modified>
</cp:coreProperties>
</file>