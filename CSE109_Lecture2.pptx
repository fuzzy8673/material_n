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CSE109  •  COMPUTER PROGRAMMING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121889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Tokens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|  Lecture 2  —  Basics and Introduction to 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808476" y="4297680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1E2226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037076" y="4407408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 = a + 10;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411480" cy="41148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75564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a Token is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411480" cy="41148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66560" y="175564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different types of tokens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411480" cy="41148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89864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identifiers and keywords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72200" y="2971800"/>
            <a:ext cx="411480" cy="41148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289864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variables and constants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411480" cy="41148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404164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types of operators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72200" y="4114800"/>
            <a:ext cx="411480" cy="41148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404164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tokens within a C statement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CSE109 — Lecture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Token?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Token is the smallest meaningful element of a C program.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 a sentence is made up of words, a C program is made up of tokens.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1E2226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4041648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 = a + 10;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0" y="1783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tokens in the statement above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0" y="2240280"/>
            <a:ext cx="1417320" cy="594360"/>
          </a:xfrm>
          <a:prstGeom prst="roundRect">
            <a:avLst>
              <a:gd name="adj" fmla="val 10769"/>
            </a:avLst>
          </a:prstGeom>
          <a:solidFill>
            <a:srgbClr val="1E2226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22402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549640" y="2240280"/>
            <a:ext cx="1417320" cy="594360"/>
          </a:xfrm>
          <a:prstGeom prst="roundRect">
            <a:avLst>
              <a:gd name="adj" fmla="val 10769"/>
            </a:avLst>
          </a:prstGeom>
          <a:solidFill>
            <a:srgbClr val="1E2226"/>
          </a:solidFill>
          <a:ln/>
        </p:spPr>
      </p:sp>
      <p:sp>
        <p:nvSpPr>
          <p:cNvPr id="13" name="Text 11"/>
          <p:cNvSpPr/>
          <p:nvPr/>
        </p:nvSpPr>
        <p:spPr>
          <a:xfrm>
            <a:off x="8549640" y="22402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149840" y="2240280"/>
            <a:ext cx="1417320" cy="594360"/>
          </a:xfrm>
          <a:prstGeom prst="roundRect">
            <a:avLst>
              <a:gd name="adj" fmla="val 10769"/>
            </a:avLst>
          </a:prstGeom>
          <a:solidFill>
            <a:srgbClr val="1E2226"/>
          </a:solidFill>
          <a:ln/>
        </p:spPr>
      </p:sp>
      <p:sp>
        <p:nvSpPr>
          <p:cNvPr id="15" name="Text 13"/>
          <p:cNvSpPr/>
          <p:nvPr/>
        </p:nvSpPr>
        <p:spPr>
          <a:xfrm>
            <a:off x="10149840" y="22402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949440" y="3017520"/>
            <a:ext cx="1417320" cy="594360"/>
          </a:xfrm>
          <a:prstGeom prst="roundRect">
            <a:avLst>
              <a:gd name="adj" fmla="val 10769"/>
            </a:avLst>
          </a:prstGeom>
          <a:solidFill>
            <a:srgbClr val="1E2226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30175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549640" y="3017520"/>
            <a:ext cx="1417320" cy="594360"/>
          </a:xfrm>
          <a:prstGeom prst="roundRect">
            <a:avLst>
              <a:gd name="adj" fmla="val 10769"/>
            </a:avLst>
          </a:prstGeom>
          <a:solidFill>
            <a:srgbClr val="1E2226"/>
          </a:solidFill>
          <a:ln/>
        </p:spPr>
      </p:sp>
      <p:sp>
        <p:nvSpPr>
          <p:cNvPr id="19" name="Text 17"/>
          <p:cNvSpPr/>
          <p:nvPr/>
        </p:nvSpPr>
        <p:spPr>
          <a:xfrm>
            <a:off x="8549640" y="30175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149840" y="3017520"/>
            <a:ext cx="1417320" cy="594360"/>
          </a:xfrm>
          <a:prstGeom prst="roundRect">
            <a:avLst>
              <a:gd name="adj" fmla="val 10769"/>
            </a:avLst>
          </a:prstGeom>
          <a:solidFill>
            <a:srgbClr val="1E2226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0" y="30175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949440" y="3794760"/>
            <a:ext cx="1417320" cy="594360"/>
          </a:xfrm>
          <a:prstGeom prst="roundRect">
            <a:avLst>
              <a:gd name="adj" fmla="val 10769"/>
            </a:avLst>
          </a:prstGeom>
          <a:solidFill>
            <a:srgbClr val="1E2226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37947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CSE109 — Lecture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Sentences and Tokens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Sentence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37744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1E2226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487168"/>
            <a:ext cx="4114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love Programming.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47472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4747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691640" y="347472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34747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love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0" y="347472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3474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Programming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80560" y="3474720"/>
            <a:ext cx="548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474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42976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sentence is a sequence of meaningful words and punctuation.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46520" y="173736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Statement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66560" y="237744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1E2226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95160" y="2487168"/>
            <a:ext cx="4114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 = a + 10;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66560" y="347472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34747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63840" y="347472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34747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961120" y="347472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0" y="34747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058400" y="347472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0" y="34747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66560" y="406908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40690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863840" y="406908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0" y="40690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961120" y="406908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0" y="40690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66560" y="4937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program is a sequence of meaningful tokens.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CSE109 — Lecture 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Tokens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Shape 3"/>
          <p:cNvSpPr/>
          <p:nvPr/>
        </p:nvSpPr>
        <p:spPr>
          <a:xfrm>
            <a:off x="5408676" y="1463040"/>
            <a:ext cx="1371600" cy="137160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5408676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 flipH="1">
            <a:off x="1371600" y="2834640"/>
            <a:ext cx="4722876" cy="1371600"/>
          </a:xfrm>
          <a:prstGeom prst="line">
            <a:avLst/>
          </a:prstGeom>
          <a:noFill/>
          <a:ln w="15875">
            <a:solidFill>
              <a:srgbClr val="C4C4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4206240"/>
            <a:ext cx="1645920" cy="1051560"/>
          </a:xfrm>
          <a:prstGeom prst="roundRect">
            <a:avLst>
              <a:gd name="adj" fmla="val 8696"/>
            </a:avLst>
          </a:prstGeom>
          <a:solidFill>
            <a:srgbClr val="F2F2F2"/>
          </a:solidFill>
          <a:ln w="15875">
            <a:solidFill>
              <a:srgbClr val="3645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0624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 flipH="1">
            <a:off x="3733038" y="2834640"/>
            <a:ext cx="2361438" cy="1371600"/>
          </a:xfrm>
          <a:prstGeom prst="line">
            <a:avLst/>
          </a:prstGeom>
          <a:noFill/>
          <a:ln w="15875">
            <a:solidFill>
              <a:srgbClr val="C4C4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10078" y="4206240"/>
            <a:ext cx="1645920" cy="1051560"/>
          </a:xfrm>
          <a:prstGeom prst="roundRect">
            <a:avLst>
              <a:gd name="adj" fmla="val 8696"/>
            </a:avLst>
          </a:prstGeom>
          <a:solidFill>
            <a:srgbClr val="F2F2F2"/>
          </a:solidFill>
          <a:ln w="15875">
            <a:solidFill>
              <a:srgbClr val="3645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10078" y="420624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94476" y="2834640"/>
            <a:ext cx="9144" cy="1371600"/>
          </a:xfrm>
          <a:prstGeom prst="line">
            <a:avLst/>
          </a:prstGeom>
          <a:noFill/>
          <a:ln w="15875">
            <a:solidFill>
              <a:srgbClr val="C4C4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71516" y="4206240"/>
            <a:ext cx="1645920" cy="1051560"/>
          </a:xfrm>
          <a:prstGeom prst="roundRect">
            <a:avLst>
              <a:gd name="adj" fmla="val 8696"/>
            </a:avLst>
          </a:prstGeom>
          <a:solidFill>
            <a:srgbClr val="F2F2F2"/>
          </a:solidFill>
          <a:ln w="15875">
            <a:solidFill>
              <a:srgbClr val="3645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1516" y="420624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94476" y="2834640"/>
            <a:ext cx="2361438" cy="1371600"/>
          </a:xfrm>
          <a:prstGeom prst="line">
            <a:avLst/>
          </a:prstGeom>
          <a:noFill/>
          <a:ln w="15875">
            <a:solidFill>
              <a:srgbClr val="C4C4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32954" y="4206240"/>
            <a:ext cx="1645920" cy="1051560"/>
          </a:xfrm>
          <a:prstGeom prst="roundRect">
            <a:avLst>
              <a:gd name="adj" fmla="val 8696"/>
            </a:avLst>
          </a:prstGeom>
          <a:solidFill>
            <a:srgbClr val="F2F2F2"/>
          </a:solidFill>
          <a:ln w="15875">
            <a:solidFill>
              <a:srgbClr val="3645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2954" y="420624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94476" y="2834640"/>
            <a:ext cx="4722876" cy="1371600"/>
          </a:xfrm>
          <a:prstGeom prst="line">
            <a:avLst/>
          </a:prstGeom>
          <a:noFill/>
          <a:ln w="15875">
            <a:solidFill>
              <a:srgbClr val="C4C4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94392" y="4206240"/>
            <a:ext cx="1645920" cy="1051560"/>
          </a:xfrm>
          <a:prstGeom prst="roundRect">
            <a:avLst>
              <a:gd name="adj" fmla="val 8696"/>
            </a:avLst>
          </a:prstGeom>
          <a:solidFill>
            <a:srgbClr val="F2F2F2"/>
          </a:solidFill>
          <a:ln w="15875">
            <a:solidFill>
              <a:srgbClr val="3645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94392" y="420624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CSE109 — Lecture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TYPE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given to variables, functions, arrays, and structures.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E2226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624328"/>
            <a:ext cx="46634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marks;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salary;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grade;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92240" y="2514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 used above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2926080"/>
            <a:ext cx="23774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0" y="2926080"/>
            <a:ext cx="23774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3611880"/>
            <a:ext cx="23774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0" y="3611880"/>
            <a:ext cx="23774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CSE109 — Lecture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TYPE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of Identifiers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74520"/>
            <a:ext cx="384048" cy="38404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7830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start with a letter or an underscore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0" y="1874520"/>
            <a:ext cx="384048" cy="38404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17830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begin with a number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1546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contain spaces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0" y="3246120"/>
            <a:ext cx="384048" cy="38404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31546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contain special symbols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384048" cy="38404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45262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a reserved keyword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3600" y="4617720"/>
            <a:ext cx="384048" cy="38404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45262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case sensitive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CSE109 — Lecture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TYPE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 vs Invalid Identifiers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EAF7E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count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_count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count1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4617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student_name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520" y="173736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CEBEC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Invalid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66560" y="2423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1count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66560" y="3154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total marks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3886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marks$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66560" y="4617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float (reserved keyword)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CSE109 — Lecture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TYPE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words that have predefined meaning in C. They cannot be used as identifiers.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22376" y="2606040"/>
            <a:ext cx="1965960" cy="685800"/>
          </a:xfrm>
          <a:prstGeom prst="roundRect">
            <a:avLst>
              <a:gd name="adj" fmla="val 46667"/>
            </a:avLst>
          </a:prstGeom>
          <a:solidFill>
            <a:srgbClr val="36454F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2606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16936" y="2606040"/>
            <a:ext cx="1965960" cy="685800"/>
          </a:xfrm>
          <a:prstGeom prst="roundRect">
            <a:avLst>
              <a:gd name="adj" fmla="val 46667"/>
            </a:avLst>
          </a:prstGeom>
          <a:solidFill>
            <a:srgbClr val="36454F"/>
          </a:solidFill>
          <a:ln/>
        </p:spPr>
      </p:sp>
      <p:sp>
        <p:nvSpPr>
          <p:cNvPr id="9" name="Text 7"/>
          <p:cNvSpPr/>
          <p:nvPr/>
        </p:nvSpPr>
        <p:spPr>
          <a:xfrm>
            <a:off x="2916936" y="2606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111496" y="2606040"/>
            <a:ext cx="1965960" cy="685800"/>
          </a:xfrm>
          <a:prstGeom prst="roundRect">
            <a:avLst>
              <a:gd name="adj" fmla="val 46667"/>
            </a:avLst>
          </a:prstGeom>
          <a:solidFill>
            <a:srgbClr val="36454F"/>
          </a:solidFill>
          <a:ln/>
        </p:spPr>
      </p:sp>
      <p:sp>
        <p:nvSpPr>
          <p:cNvPr id="11" name="Text 9"/>
          <p:cNvSpPr/>
          <p:nvPr/>
        </p:nvSpPr>
        <p:spPr>
          <a:xfrm>
            <a:off x="5111496" y="2606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06056" y="2606040"/>
            <a:ext cx="1965960" cy="685800"/>
          </a:xfrm>
          <a:prstGeom prst="roundRect">
            <a:avLst>
              <a:gd name="adj" fmla="val 46667"/>
            </a:avLst>
          </a:prstGeom>
          <a:solidFill>
            <a:srgbClr val="36454F"/>
          </a:solidFill>
          <a:ln/>
        </p:spPr>
      </p:sp>
      <p:sp>
        <p:nvSpPr>
          <p:cNvPr id="13" name="Text 11"/>
          <p:cNvSpPr/>
          <p:nvPr/>
        </p:nvSpPr>
        <p:spPr>
          <a:xfrm>
            <a:off x="7306056" y="2606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500616" y="2606040"/>
            <a:ext cx="1965960" cy="685800"/>
          </a:xfrm>
          <a:prstGeom prst="roundRect">
            <a:avLst>
              <a:gd name="adj" fmla="val 46667"/>
            </a:avLst>
          </a:prstGeom>
          <a:solidFill>
            <a:srgbClr val="36454F"/>
          </a:solidFill>
          <a:ln/>
        </p:spPr>
      </p:sp>
      <p:sp>
        <p:nvSpPr>
          <p:cNvPr id="15" name="Text 13"/>
          <p:cNvSpPr/>
          <p:nvPr/>
        </p:nvSpPr>
        <p:spPr>
          <a:xfrm>
            <a:off x="9500616" y="2606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22376" y="3566160"/>
            <a:ext cx="1965960" cy="685800"/>
          </a:xfrm>
          <a:prstGeom prst="roundRect">
            <a:avLst>
              <a:gd name="adj" fmla="val 46667"/>
            </a:avLst>
          </a:prstGeom>
          <a:solidFill>
            <a:srgbClr val="36454F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" y="35661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916936" y="3566160"/>
            <a:ext cx="1965960" cy="685800"/>
          </a:xfrm>
          <a:prstGeom prst="roundRect">
            <a:avLst>
              <a:gd name="adj" fmla="val 46667"/>
            </a:avLst>
          </a:prstGeom>
          <a:solidFill>
            <a:srgbClr val="36454F"/>
          </a:solidFill>
          <a:ln/>
        </p:spPr>
      </p:sp>
      <p:sp>
        <p:nvSpPr>
          <p:cNvPr id="19" name="Text 17"/>
          <p:cNvSpPr/>
          <p:nvPr/>
        </p:nvSpPr>
        <p:spPr>
          <a:xfrm>
            <a:off x="2916936" y="35661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111496" y="3566160"/>
            <a:ext cx="1965960" cy="685800"/>
          </a:xfrm>
          <a:prstGeom prst="roundRect">
            <a:avLst>
              <a:gd name="adj" fmla="val 46667"/>
            </a:avLst>
          </a:prstGeom>
          <a:solidFill>
            <a:srgbClr val="36454F"/>
          </a:solidFill>
          <a:ln/>
        </p:spPr>
      </p:sp>
      <p:sp>
        <p:nvSpPr>
          <p:cNvPr id="21" name="Text 19"/>
          <p:cNvSpPr/>
          <p:nvPr/>
        </p:nvSpPr>
        <p:spPr>
          <a:xfrm>
            <a:off x="5111496" y="35661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06056" y="3566160"/>
            <a:ext cx="1965960" cy="685800"/>
          </a:xfrm>
          <a:prstGeom prst="roundRect">
            <a:avLst>
              <a:gd name="adj" fmla="val 46667"/>
            </a:avLst>
          </a:prstGeom>
          <a:solidFill>
            <a:srgbClr val="36454F"/>
          </a:solidFill>
          <a:ln/>
        </p:spPr>
      </p:sp>
      <p:sp>
        <p:nvSpPr>
          <p:cNvPr id="23" name="Text 21"/>
          <p:cNvSpPr/>
          <p:nvPr/>
        </p:nvSpPr>
        <p:spPr>
          <a:xfrm>
            <a:off x="7306056" y="35661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500616" y="3566160"/>
            <a:ext cx="1965960" cy="685800"/>
          </a:xfrm>
          <a:prstGeom prst="roundRect">
            <a:avLst>
              <a:gd name="adj" fmla="val 46667"/>
            </a:avLst>
          </a:prstGeom>
          <a:solidFill>
            <a:srgbClr val="36454F"/>
          </a:solidFill>
          <a:ln/>
        </p:spPr>
      </p:sp>
      <p:sp>
        <p:nvSpPr>
          <p:cNvPr id="25" name="Text 23"/>
          <p:cNvSpPr/>
          <p:nvPr/>
        </p:nvSpPr>
        <p:spPr>
          <a:xfrm>
            <a:off x="9500616" y="35661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22376" y="4526280"/>
            <a:ext cx="1965960" cy="685800"/>
          </a:xfrm>
          <a:prstGeom prst="roundRect">
            <a:avLst>
              <a:gd name="adj" fmla="val 46667"/>
            </a:avLst>
          </a:prstGeom>
          <a:solidFill>
            <a:srgbClr val="36454F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" y="45262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916936" y="4526280"/>
            <a:ext cx="1965960" cy="685800"/>
          </a:xfrm>
          <a:prstGeom prst="roundRect">
            <a:avLst>
              <a:gd name="adj" fmla="val 46667"/>
            </a:avLst>
          </a:prstGeom>
          <a:solidFill>
            <a:srgbClr val="36454F"/>
          </a:solidFill>
          <a:ln/>
        </p:spPr>
      </p:sp>
      <p:sp>
        <p:nvSpPr>
          <p:cNvPr id="29" name="Text 27"/>
          <p:cNvSpPr/>
          <p:nvPr/>
        </p:nvSpPr>
        <p:spPr>
          <a:xfrm>
            <a:off x="2916936" y="45262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111496" y="4526280"/>
            <a:ext cx="1965960" cy="685800"/>
          </a:xfrm>
          <a:prstGeom prst="roundRect">
            <a:avLst>
              <a:gd name="adj" fmla="val 46667"/>
            </a:avLst>
          </a:prstGeom>
          <a:solidFill>
            <a:srgbClr val="36454F"/>
          </a:solidFill>
          <a:ln/>
        </p:spPr>
      </p:sp>
      <p:sp>
        <p:nvSpPr>
          <p:cNvPr id="31" name="Text 29"/>
          <p:cNvSpPr/>
          <p:nvPr/>
        </p:nvSpPr>
        <p:spPr>
          <a:xfrm>
            <a:off x="5111496" y="45262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CSE109 — Lecture 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TYPE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type tells the compiler what kind of data will be stored in a variable.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7315200" cy="292608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decimal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CSE109 — Lecture 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TYPE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 — Examples &amp; Memory Size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1E2226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92808"/>
            <a:ext cx="502920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 = 20;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grade = 'A';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salary = 5000.5;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pi = 3.1415926;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783080"/>
          <a:ext cx="5120640" cy="246888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Size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Byte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Bytes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Bytes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Bytes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exact sizes can vary slightly across systems and compilers.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CSE109 — Lecture 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TYPE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constant is a value that never changes during program execution.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989320" y="24231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63640" y="29260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25.5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6634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989320" y="416052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46634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"India"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CSE109 — Lecture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TYPE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memory locations used to store data.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1E2226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035808"/>
            <a:ext cx="2880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age;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06240" y="25146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06240" y="292608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1E2226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34840" y="3035808"/>
            <a:ext cx="2880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20;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63840" y="25146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63840" y="292608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1E2226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92440" y="3035808"/>
            <a:ext cx="2880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 = 20;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CSE109 — Lecture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TYPE 4 &amp;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vs Constants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can change during execution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3017520"/>
            <a:ext cx="4526280" cy="1097280"/>
          </a:xfrm>
          <a:prstGeom prst="roundRect">
            <a:avLst>
              <a:gd name="adj" fmla="val 6667"/>
            </a:avLst>
          </a:prstGeom>
          <a:solidFill>
            <a:srgbClr val="1E2226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3127248"/>
            <a:ext cx="4069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 = 20;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25;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46520" y="173736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6656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cannot be modified once set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3017520"/>
            <a:ext cx="4526280" cy="777240"/>
          </a:xfrm>
          <a:prstGeom prst="roundRect">
            <a:avLst>
              <a:gd name="adj" fmla="val 9412"/>
            </a:avLst>
          </a:prstGeom>
          <a:solidFill>
            <a:srgbClr val="1E2226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95160" y="3127248"/>
            <a:ext cx="40690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float PI = 3.14;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CSE109 — Lecture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TYPE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specify the operation to be performed on operands.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90956" y="237744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8116" y="24505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28116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−  *  /  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88436" y="237744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5596" y="24505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25596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 &lt;  &gt;=  &lt;=  ==  !=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85916" y="237744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3076" y="24505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23076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  ||   !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83396" y="237744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20556" y="24505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20556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0956" y="35661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" y="363931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28116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   −−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88436" y="35661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25596" y="363931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25596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 |  ^  &lt;&lt;  &gt;&gt;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85916" y="35661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3076" y="363931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23076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: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CSE109 — Lecture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TYPE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Symbols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Symbols with a specific structural purpose in a C program.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82396" y="237744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E2226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9556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terminator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34156" y="237744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E2226"/>
          </a:solidFill>
          <a:ln/>
        </p:spPr>
      </p:sp>
      <p:sp>
        <p:nvSpPr>
          <p:cNvPr id="10" name="Text 8"/>
          <p:cNvSpPr/>
          <p:nvPr/>
        </p:nvSpPr>
        <p:spPr>
          <a:xfrm>
            <a:off x="3671316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71316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calls / grouping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5916" y="237744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E2226"/>
          </a:solidFill>
          <a:ln/>
        </p:spPr>
      </p:sp>
      <p:sp>
        <p:nvSpPr>
          <p:cNvPr id="13" name="Text 11"/>
          <p:cNvSpPr/>
          <p:nvPr/>
        </p:nvSpPr>
        <p:spPr>
          <a:xfrm>
            <a:off x="6323076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23076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of statements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37676" y="237744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E2226"/>
          </a:solidFill>
          <a:ln/>
        </p:spPr>
      </p:sp>
      <p:sp>
        <p:nvSpPr>
          <p:cNvPr id="16" name="Text 14"/>
          <p:cNvSpPr/>
          <p:nvPr/>
        </p:nvSpPr>
        <p:spPr>
          <a:xfrm>
            <a:off x="8974836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974836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subscript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2396" y="37033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E2226"/>
          </a:solidFill>
          <a:ln/>
        </p:spPr>
      </p:sp>
      <p:sp>
        <p:nvSpPr>
          <p:cNvPr id="19" name="Text 17"/>
          <p:cNvSpPr/>
          <p:nvPr/>
        </p:nvSpPr>
        <p:spPr>
          <a:xfrm>
            <a:off x="1019556" y="3794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19556" y="4251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 directive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34156" y="37033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E2226"/>
          </a:solidFill>
          <a:ln/>
        </p:spPr>
      </p:sp>
      <p:sp>
        <p:nvSpPr>
          <p:cNvPr id="22" name="Text 20"/>
          <p:cNvSpPr/>
          <p:nvPr/>
        </p:nvSpPr>
        <p:spPr>
          <a:xfrm>
            <a:off x="3671316" y="3794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671316" y="4251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items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85916" y="37033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E2226"/>
          </a:solidFill>
          <a:ln/>
        </p:spPr>
      </p:sp>
      <p:sp>
        <p:nvSpPr>
          <p:cNvPr id="25" name="Text 23"/>
          <p:cNvSpPr/>
          <p:nvPr/>
        </p:nvSpPr>
        <p:spPr>
          <a:xfrm>
            <a:off x="6323076" y="3794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23076" y="4251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access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CSE109 — Lecture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Identification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identify every token in the C program below.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22676" y="2377440"/>
            <a:ext cx="5943600" cy="3566160"/>
          </a:xfrm>
          <a:prstGeom prst="roundRect">
            <a:avLst>
              <a:gd name="adj" fmla="val 2051"/>
            </a:avLst>
          </a:prstGeom>
          <a:solidFill>
            <a:srgbClr val="1E2226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51276" y="2487168"/>
            <a:ext cx="54864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sum = 10;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printf("%d", sum);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CSE109 — Lecture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Identification — Breakdown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DDDDD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212080" cy="4389120"/>
        </p:xfrm>
        <a:graphic>
          <a:graphicData uri="http://schemas.openxmlformats.org/drawingml/2006/table">
            <a:tbl>
              <a:tblPr/>
              <a:tblGrid>
                <a:gridCol w="2606040"/>
                <a:gridCol w="260604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 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Symbol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Symbol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Symbol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783080"/>
          <a:ext cx="5212080" cy="3840480"/>
        </p:xfrm>
        <a:graphic>
          <a:graphicData uri="http://schemas.openxmlformats.org/drawingml/2006/table">
            <a:tbl>
              <a:tblPr/>
              <a:tblGrid>
                <a:gridCol w="2606040"/>
                <a:gridCol w="2606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 (library function)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"%d"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Constant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Symbol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CSE109 — Lecture 2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Covered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5236" y="192024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3F4E5A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1920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are Tokens?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2836" y="192024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3F4E5A"/>
          </a:solidFill>
          <a:ln/>
        </p:spPr>
      </p:sp>
      <p:sp>
        <p:nvSpPr>
          <p:cNvPr id="7" name="Text 5"/>
          <p:cNvSpPr/>
          <p:nvPr/>
        </p:nvSpPr>
        <p:spPr>
          <a:xfrm>
            <a:off x="4585716" y="1920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Identifiers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60436" y="192024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3F4E5A"/>
          </a:solidFill>
          <a:ln/>
        </p:spPr>
      </p:sp>
      <p:sp>
        <p:nvSpPr>
          <p:cNvPr id="9" name="Text 7"/>
          <p:cNvSpPr/>
          <p:nvPr/>
        </p:nvSpPr>
        <p:spPr>
          <a:xfrm>
            <a:off x="8243316" y="1920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Keywords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5236" y="301752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3F4E5A"/>
          </a:solidFill>
          <a:ln/>
        </p:spPr>
      </p:sp>
      <p:sp>
        <p:nvSpPr>
          <p:cNvPr id="11" name="Text 9"/>
          <p:cNvSpPr/>
          <p:nvPr/>
        </p:nvSpPr>
        <p:spPr>
          <a:xfrm>
            <a:off x="928116" y="3017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Types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02836" y="301752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3F4E5A"/>
          </a:solidFill>
          <a:ln/>
        </p:spPr>
      </p:sp>
      <p:sp>
        <p:nvSpPr>
          <p:cNvPr id="13" name="Text 11"/>
          <p:cNvSpPr/>
          <p:nvPr/>
        </p:nvSpPr>
        <p:spPr>
          <a:xfrm>
            <a:off x="4585716" y="3017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Variables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60436" y="301752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3F4E5A"/>
          </a:solidFill>
          <a:ln/>
        </p:spPr>
      </p:sp>
      <p:sp>
        <p:nvSpPr>
          <p:cNvPr id="15" name="Text 13"/>
          <p:cNvSpPr/>
          <p:nvPr/>
        </p:nvSpPr>
        <p:spPr>
          <a:xfrm>
            <a:off x="8243316" y="3017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Constants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5236" y="411480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3F4E5A"/>
          </a:solidFill>
          <a:ln/>
        </p:spPr>
      </p:sp>
      <p:sp>
        <p:nvSpPr>
          <p:cNvPr id="17" name="Text 15"/>
          <p:cNvSpPr/>
          <p:nvPr/>
        </p:nvSpPr>
        <p:spPr>
          <a:xfrm>
            <a:off x="928116" y="4114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Operators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02836" y="411480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3F4E5A"/>
          </a:solidFill>
          <a:ln/>
        </p:spPr>
      </p:sp>
      <p:sp>
        <p:nvSpPr>
          <p:cNvPr id="19" name="Text 17"/>
          <p:cNvSpPr/>
          <p:nvPr/>
        </p:nvSpPr>
        <p:spPr>
          <a:xfrm>
            <a:off x="4585716" y="4114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Special Symbols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60436" y="411480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3F4E5A"/>
          </a:solidFill>
          <a:ln/>
        </p:spPr>
      </p:sp>
      <p:sp>
        <p:nvSpPr>
          <p:cNvPr id="21" name="Text 19"/>
          <p:cNvSpPr/>
          <p:nvPr/>
        </p:nvSpPr>
        <p:spPr>
          <a:xfrm>
            <a:off x="8243316" y="4114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Token Identification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CSE109 — Lecture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384048" cy="38404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7190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tokens in: int x = y * 25;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384048" cy="38404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258775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10 valid and 10 invalid identifiers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34564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10 C keywords and explain their purpose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384048" cy="38404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432511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one variable of each basic data type (int, char, float, double) with an appropriate value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5303520"/>
            <a:ext cx="384048" cy="38404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303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5193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operators in: a + b,  x &gt;= y,  i++,  a &amp;&amp; b,  x = 10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CSE109 — Lecture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2026-08-04T08:07:41Z</dcterms:created>
  <dcterms:modified xsi:type="dcterms:W3CDTF">2026-08-04T08:07:41Z</dcterms:modified>
</cp:coreProperties>
</file>