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35" autoAdjust="0"/>
    <p:restoredTop sz="94610"/>
  </p:normalViewPr>
  <p:slideViewPr>
    <p:cSldViewPr snapToGrid="0" snapToObjects="1">
      <p:cViewPr>
        <p:scale>
          <a:sx n="96" d="100"/>
          <a:sy n="96" d="100"/>
        </p:scale>
        <p:origin x="134" y="-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721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 ·  LECTURE 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96926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Functions &amp; Structured Program Design in C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48640" y="33009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31912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 Design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33009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5779008" y="31912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Program Design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581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6484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0" y="37581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779008" y="36484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Input using scanf()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42153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1056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 using printf()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0" y="42153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5779008" y="41056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Specifiers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672584"/>
            <a:ext cx="128016" cy="12801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41248" y="4562856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 Programming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26307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6235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Goal: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interactive and structured C programs that accept user input, perform computations, and display formatted results.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STRUCTURED PROGRAM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Design a Program?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17936" y="384048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17936" y="384048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should not be written randomly — every problem follows the same path: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65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121408" y="2121408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359152" y="19659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359152" y="1965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931920" y="2121408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9664" y="19659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169664" y="1965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742432" y="2121408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Shape 15"/>
          <p:cNvSpPr/>
          <p:nvPr/>
        </p:nvSpPr>
        <p:spPr>
          <a:xfrm>
            <a:off x="5980176" y="19659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5980176" y="1965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552944" y="2121408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8"/>
          <p:cNvSpPr/>
          <p:nvPr/>
        </p:nvSpPr>
        <p:spPr>
          <a:xfrm>
            <a:off x="7790688" y="19659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7790688" y="1965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63456" y="2121408"/>
            <a:ext cx="329184" cy="256032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3" name="Shape 21"/>
          <p:cNvSpPr/>
          <p:nvPr/>
        </p:nvSpPr>
        <p:spPr>
          <a:xfrm>
            <a:off x="9601200" y="196596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601200" y="1965960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2880360"/>
            <a:ext cx="5349240" cy="1874520"/>
          </a:xfrm>
          <a:prstGeom prst="roundRect">
            <a:avLst>
              <a:gd name="adj" fmla="val 4390"/>
            </a:avLst>
          </a:prstGeom>
          <a:solidFill>
            <a:srgbClr val="F6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30175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Problem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329184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average of two numbers.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77240" y="365760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Identify Inputs: Number 1, Number 2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Processing: Add the numbers, divide by 2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Output: Display the average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336792" y="3337560"/>
            <a:ext cx="5074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I give you two numbers, what exactly does the computer need to do?”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" y="502920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structure of every program: INPUT  →  PROCESS  →  OUTPUT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· STRUCTURED PROGRAM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Structured Programming?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17936" y="384048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17936" y="384048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complex problem is divided into smaller, logical and manageable parts, built from three fundamental structures: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6F7FB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04672" y="312724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" y="35204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execute one after another, in order.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334256" y="22402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6F7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0288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4590288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0288" y="312724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0288" y="35204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Decision-making using if, if-else, switch.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119872" y="2240280"/>
            <a:ext cx="3520440" cy="2286000"/>
          </a:xfrm>
          <a:prstGeom prst="roundRect">
            <a:avLst>
              <a:gd name="adj" fmla="val 3600"/>
            </a:avLst>
          </a:prstGeom>
          <a:solidFill>
            <a:srgbClr val="F6F7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375904" y="24688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E8A33D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75904" y="3127248"/>
            <a:ext cx="3008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75904" y="3520440"/>
            <a:ext cx="300837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 using for, while, do-while.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846320"/>
            <a:ext cx="11091672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49743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a large problem into smaller, understandable steps.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TOP-DOWN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Program Design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17936" y="384048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17936" y="384048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Big → Break It Down → Implement. Start with the main problem and repeatedly divide it into smaller tasks.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6309360" cy="3200400"/>
          </a:xfrm>
          <a:prstGeom prst="roundRect">
            <a:avLst>
              <a:gd name="adj" fmla="val 2571"/>
            </a:avLst>
          </a:prstGeom>
          <a:solidFill>
            <a:srgbClr val="F6F7FB"/>
          </a:solidFill>
          <a:ln/>
        </p:spPr>
      </p:sp>
      <p:sp>
        <p:nvSpPr>
          <p:cNvPr id="9" name="Text 7"/>
          <p:cNvSpPr/>
          <p:nvPr/>
        </p:nvSpPr>
        <p:spPr>
          <a:xfrm>
            <a:off x="804672" y="233172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Student Result Program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26974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Result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703320" y="3154680"/>
            <a:ext cx="0" cy="320040"/>
          </a:xfrm>
          <a:prstGeom prst="line">
            <a:avLst/>
          </a:prstGeom>
          <a:noFill/>
          <a:ln w="12700">
            <a:solidFill>
              <a:srgbClr val="9AA5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8700" y="3474720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334186"/>
          </a:solidFill>
          <a:ln/>
        </p:spPr>
      </p:sp>
      <p:sp>
        <p:nvSpPr>
          <p:cNvPr id="14" name="Text 12"/>
          <p:cNvSpPr/>
          <p:nvPr/>
        </p:nvSpPr>
        <p:spPr>
          <a:xfrm>
            <a:off x="102870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Marks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703320" y="3154680"/>
            <a:ext cx="0" cy="320040"/>
          </a:xfrm>
          <a:prstGeom prst="line">
            <a:avLst/>
          </a:prstGeom>
          <a:noFill/>
          <a:ln w="12700">
            <a:solidFill>
              <a:srgbClr val="9AA5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57500" y="3474720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334186"/>
          </a:solidFill>
          <a:ln/>
        </p:spPr>
      </p:sp>
      <p:sp>
        <p:nvSpPr>
          <p:cNvPr id="17" name="Text 15"/>
          <p:cNvSpPr/>
          <p:nvPr/>
        </p:nvSpPr>
        <p:spPr>
          <a:xfrm>
            <a:off x="285750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Result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03320" y="3154680"/>
            <a:ext cx="1828800" cy="320040"/>
          </a:xfrm>
          <a:prstGeom prst="line">
            <a:avLst/>
          </a:prstGeom>
          <a:noFill/>
          <a:ln w="12700">
            <a:solidFill>
              <a:srgbClr val="9AA5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86300" y="3474720"/>
            <a:ext cx="1691640" cy="438912"/>
          </a:xfrm>
          <a:prstGeom prst="roundRect">
            <a:avLst>
              <a:gd name="adj" fmla="val 16667"/>
            </a:avLst>
          </a:prstGeom>
          <a:solidFill>
            <a:srgbClr val="334186"/>
          </a:solidFill>
          <a:ln/>
        </p:spPr>
      </p:sp>
      <p:sp>
        <p:nvSpPr>
          <p:cNvPr id="20" name="Text 18"/>
          <p:cNvSpPr/>
          <p:nvPr/>
        </p:nvSpPr>
        <p:spPr>
          <a:xfrm>
            <a:off x="4686300" y="3474720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Result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703320" y="3913632"/>
            <a:ext cx="0" cy="338328"/>
          </a:xfrm>
          <a:prstGeom prst="line">
            <a:avLst/>
          </a:prstGeom>
          <a:noFill/>
          <a:ln w="12700">
            <a:solidFill>
              <a:srgbClr val="9AA5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49324" y="425196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1449324" y="42519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703320" y="3913632"/>
            <a:ext cx="0" cy="338328"/>
          </a:xfrm>
          <a:prstGeom prst="line">
            <a:avLst/>
          </a:prstGeom>
          <a:noFill/>
          <a:ln w="12700">
            <a:solidFill>
              <a:srgbClr val="9AA5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4660" y="425196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2994660" y="42519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703320" y="3913632"/>
            <a:ext cx="1545336" cy="338328"/>
          </a:xfrm>
          <a:prstGeom prst="line">
            <a:avLst/>
          </a:prstGeom>
          <a:noFill/>
          <a:ln w="12700">
            <a:solidFill>
              <a:srgbClr val="9AA5C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39996" y="4251960"/>
            <a:ext cx="1417320" cy="438912"/>
          </a:xfrm>
          <a:prstGeom prst="roundRect">
            <a:avLst>
              <a:gd name="adj" fmla="val 16667"/>
            </a:avLst>
          </a:prstGeom>
          <a:solidFill>
            <a:srgbClr val="E8A33D"/>
          </a:solidFill>
          <a:ln/>
        </p:spPr>
      </p:sp>
      <p:sp>
        <p:nvSpPr>
          <p:cNvPr id="29" name="Text 27"/>
          <p:cNvSpPr/>
          <p:nvPr/>
        </p:nvSpPr>
        <p:spPr>
          <a:xfrm>
            <a:off x="4539996" y="42519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022592" y="2148840"/>
            <a:ext cx="4617720" cy="3200400"/>
          </a:xfrm>
          <a:prstGeom prst="roundRect">
            <a:avLst>
              <a:gd name="adj" fmla="val 2571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7251192" y="23317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Top-Down Design?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251192" y="2697480"/>
            <a:ext cx="42062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understand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code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debug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to maintain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complexity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· TOP-DOWN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Design — Real Example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17936" y="384048"/>
            <a:ext cx="722376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17936" y="384048"/>
            <a:ext cx="7223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8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area and perimeter of a rectangle.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19456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2194560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011680" y="2011680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Rectangle Program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2999232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182112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334186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" y="3182112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2999232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Dimensions → Calculate → Display Result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3986784"/>
            <a:ext cx="11091672" cy="822960"/>
          </a:xfrm>
          <a:prstGeom prst="roundRect">
            <a:avLst>
              <a:gd name="adj" fmla="val 10000"/>
            </a:avLst>
          </a:prstGeom>
          <a:solidFill>
            <a:srgbClr val="F6F7FB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169664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E8A33D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69664"/>
            <a:ext cx="1051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11680" y="3986784"/>
            <a:ext cx="9418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length, breadth  •  area = l × b  •  perimeter = 2(l + b)  •  Output area, perimeter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5047488"/>
            <a:ext cx="11091672" cy="960120"/>
          </a:xfrm>
          <a:prstGeom prst="roundRect">
            <a:avLst>
              <a:gd name="adj" fmla="val 8571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51572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" y="54132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we have to make a program for a simple calculator, what smaller tasks can we divide it into?”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TYPE CONVERSION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Type Conversion Matter?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95660" y="384048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95660" y="384048"/>
            <a:ext cx="6446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554480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828800"/>
            <a:ext cx="4992624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2;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result;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a / b;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result);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481328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0934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students expect?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0" y="18745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6E7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5468112" cy="1161288"/>
          </a:xfrm>
          <a:prstGeom prst="roundRect">
            <a:avLst>
              <a:gd name="adj" fmla="val 7087"/>
            </a:avLst>
          </a:prstGeom>
          <a:solidFill>
            <a:srgbClr val="FBEDE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614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2.000000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 a / b  is performed as  int / int → int, so  5 / 2 → 2.  Only afterwards is 2 assigned to float.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138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types involved in an expression determine how the calculation is performed.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TYPE CONVERSION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Type Conversion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95660" y="384048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95660" y="384048"/>
            <a:ext cx="6446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5448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performed automatically by the compiler.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40487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67919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b = 3.5;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result = a + b;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int → float automatically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54480"/>
            <a:ext cx="5468112" cy="1600200"/>
          </a:xfrm>
          <a:prstGeom prst="roundRect">
            <a:avLst>
              <a:gd name="adj" fmla="val 514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36792" y="1627632"/>
            <a:ext cx="5138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73368" y="1901952"/>
            <a:ext cx="5065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10;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y = 2.5;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x + y);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5468112" cy="1051560"/>
          </a:xfrm>
          <a:prstGeom prst="roundRect">
            <a:avLst>
              <a:gd name="adj" fmla="val 7826"/>
            </a:avLst>
          </a:prstGeom>
          <a:solidFill>
            <a:srgbClr val="F6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34198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happens?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36850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3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→ 10.0    </a:t>
            </a:r>
            <a:r>
              <a:rPr lang="en-US" sz="16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10.0 + 2.5 → 12.5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138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= the compiler does it automatically.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TYPE CONVERSION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Type Conversion / Type Casting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95660" y="384048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95660" y="384048"/>
            <a:ext cx="6446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programmer manually tells C to convert a value.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Syntax:  (type) expression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5394960" cy="2148840"/>
          </a:xfrm>
          <a:prstGeom prst="roundRect">
            <a:avLst>
              <a:gd name="adj" fmla="val 383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58775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862072"/>
            <a:ext cx="499262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b = 2;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result;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(float)a / b;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result);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536192"/>
            <a:ext cx="5468112" cy="1325880"/>
          </a:xfrm>
          <a:prstGeom prst="roundRect">
            <a:avLst>
              <a:gd name="adj" fmla="val 6207"/>
            </a:avLst>
          </a:prstGeom>
          <a:solidFill>
            <a:srgbClr val="EAF6E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6642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2.500000</a:t>
            </a:r>
            <a:endParaRPr lang="en-US" sz="3400" dirty="0"/>
          </a:p>
        </p:txBody>
      </p:sp>
      <p:sp>
        <p:nvSpPr>
          <p:cNvPr id="14" name="Shape 12"/>
          <p:cNvSpPr/>
          <p:nvPr/>
        </p:nvSpPr>
        <p:spPr>
          <a:xfrm>
            <a:off x="6172200" y="3063240"/>
            <a:ext cx="5468112" cy="1600200"/>
          </a:xfrm>
          <a:prstGeom prst="roundRect">
            <a:avLst>
              <a:gd name="adj" fmla="val 514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3136392"/>
            <a:ext cx="5138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373368" y="3410712"/>
            <a:ext cx="506577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(float)5  →  5.0</a:t>
            </a:r>
            <a:endParaRPr lang="en-US" sz="16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 / 2   →  2.5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02920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51389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5394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= the programmer does it, using type casting.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· TYPE CONVERSION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Casting vs. With Casting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95660" y="384048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95660" y="384048"/>
            <a:ext cx="6446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81328"/>
            <a:ext cx="5394960" cy="365760"/>
          </a:xfrm>
          <a:prstGeom prst="roundRect">
            <a:avLst>
              <a:gd name="adj" fmla="val 22500"/>
            </a:avLst>
          </a:prstGeom>
          <a:solidFill>
            <a:srgbClr val="FBEDE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8132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C0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TYPE CASTING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920240"/>
            <a:ext cx="5394960" cy="1371600"/>
          </a:xfrm>
          <a:prstGeom prst="roundRect">
            <a:avLst>
              <a:gd name="adj" fmla="val 600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066544"/>
            <a:ext cx="499262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5, b = 2;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result = a / b;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result);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FBEDE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401568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2.000000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172200" y="1481328"/>
            <a:ext cx="5468112" cy="365760"/>
          </a:xfrm>
          <a:prstGeom prst="roundRect">
            <a:avLst>
              <a:gd name="adj" fmla="val 22500"/>
            </a:avLst>
          </a:prstGeom>
          <a:solidFill>
            <a:srgbClr val="EAF6EF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481328"/>
            <a:ext cx="5468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2E9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TYPE CASTING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5468112" cy="1371600"/>
          </a:xfrm>
          <a:prstGeom prst="roundRect">
            <a:avLst>
              <a:gd name="adj" fmla="val 6000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73368" y="2066544"/>
            <a:ext cx="50657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5, b = 2;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result = (float)a / b;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result);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3401568"/>
            <a:ext cx="5468112" cy="502920"/>
          </a:xfrm>
          <a:prstGeom prst="roundRect">
            <a:avLst>
              <a:gd name="adj" fmla="val 16364"/>
            </a:avLst>
          </a:prstGeom>
          <a:solidFill>
            <a:srgbClr val="EAF6EF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401568"/>
            <a:ext cx="546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2.500000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11091672" cy="20574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804672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Students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526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the output change even though a and b are still integers?”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" y="50749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/ b  →  int / int  →  integer division  →  2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(float)a / b  →  float / int  →  floating-point division  →  2.5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· INPUT &amp; OUTPUT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&amp; Output in C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51108" y="384048"/>
            <a:ext cx="48920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151108" y="384048"/>
            <a:ext cx="489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a C program communicate with the user?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271516" y="2651760"/>
            <a:ext cx="1645920" cy="91440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271516" y="265176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88236" y="26974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1888236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input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174236" y="2926080"/>
            <a:ext cx="1005840" cy="36576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4174236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6156" y="2697480"/>
            <a:ext cx="2194560" cy="822960"/>
          </a:xfrm>
          <a:prstGeom prst="roundRect">
            <a:avLst>
              <a:gd name="adj" fmla="val 11111"/>
            </a:avLst>
          </a:prstGeom>
          <a:solidFill>
            <a:srgbClr val="F6F7FB"/>
          </a:solidFill>
          <a:ln/>
        </p:spPr>
      </p:sp>
      <p:sp>
        <p:nvSpPr>
          <p:cNvPr id="15" name="Text 13"/>
          <p:cNvSpPr/>
          <p:nvPr/>
        </p:nvSpPr>
        <p:spPr>
          <a:xfrm>
            <a:off x="8106156" y="26974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output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008876" y="2926080"/>
            <a:ext cx="1005840" cy="365760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17" name="Text 15"/>
          <p:cNvSpPr/>
          <p:nvPr/>
        </p:nvSpPr>
        <p:spPr>
          <a:xfrm>
            <a:off x="7008876" y="24688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3931920"/>
            <a:ext cx="5394960" cy="594360"/>
          </a:xfrm>
          <a:prstGeom prst="roundRect">
            <a:avLst>
              <a:gd name="adj" fmla="val 13846"/>
            </a:avLst>
          </a:prstGeom>
          <a:solidFill>
            <a:srgbClr val="F6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9319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scanf()  </a:t>
            </a:r>
            <a:r>
              <a:rPr lang="en-US" sz="15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used to take input from the user.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2200" y="3931920"/>
            <a:ext cx="5468112" cy="594360"/>
          </a:xfrm>
          <a:prstGeom prst="roundRect">
            <a:avLst>
              <a:gd name="adj" fmla="val 13846"/>
            </a:avLst>
          </a:prstGeom>
          <a:solidFill>
            <a:srgbClr val="F6F7FB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93192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printf()  </a:t>
            </a:r>
            <a:r>
              <a:rPr lang="en-US" sz="15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used to display output to the user.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48640" y="4754880"/>
            <a:ext cx="11091672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13232" y="4828032"/>
            <a:ext cx="10762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49808" y="5102352"/>
            <a:ext cx="10689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printf("Age = %d", age);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SCANF()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51108" y="384048"/>
            <a:ext cx="48920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151108" y="384048"/>
            <a:ext cx="489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58191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856232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scanf("format_specifier", &amp;variable);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394960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77063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044952"/>
            <a:ext cx="49926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5394960" cy="1920240"/>
          </a:xfrm>
          <a:prstGeom prst="roundRect">
            <a:avLst>
              <a:gd name="adj" fmla="val 4286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4348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&amp;age ?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4736592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needs the address of the variable where the entered value should be stored.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77240" y="53492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enters 20  →  scanf()  →  address of age  →  age = 20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1508760"/>
            <a:ext cx="5468112" cy="411480"/>
          </a:xfrm>
          <a:prstGeom prst="roundRect">
            <a:avLst>
              <a:gd name="adj" fmla="val 20000"/>
            </a:avLst>
          </a:prstGeom>
          <a:solidFill>
            <a:srgbClr val="F6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508760"/>
            <a:ext cx="5468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INPUTS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2011680"/>
            <a:ext cx="5468112" cy="1234440"/>
          </a:xfrm>
          <a:prstGeom prst="roundRect">
            <a:avLst>
              <a:gd name="adj" fmla="val 6667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73368" y="2157984"/>
            <a:ext cx="50657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a, b;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 %d", &amp;a, &amp;b);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72200" y="3383280"/>
            <a:ext cx="5468112" cy="2834640"/>
          </a:xfrm>
          <a:prstGeom prst="roundRect">
            <a:avLst>
              <a:gd name="adj" fmla="val 2903"/>
            </a:avLst>
          </a:prstGeom>
          <a:solidFill>
            <a:srgbClr val="F6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5204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37673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10 20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400800" y="4343400"/>
            <a:ext cx="5029200" cy="0"/>
          </a:xfrm>
          <a:prstGeom prst="line">
            <a:avLst/>
          </a:prstGeom>
          <a:noFill/>
          <a:ln w="12700">
            <a:solidFill>
              <a:srgbClr val="DADE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4480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00800" y="47548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10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20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· PRINTF()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Function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51108" y="384048"/>
            <a:ext cx="48920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151108" y="384048"/>
            <a:ext cx="489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58191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856232"/>
            <a:ext cx="4992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printf("format string", values);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394960" cy="1600200"/>
          </a:xfrm>
          <a:prstGeom prst="roundRect">
            <a:avLst>
              <a:gd name="adj" fmla="val 514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13232" y="277063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49808" y="3044952"/>
            <a:ext cx="49926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20;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printf("Age = %d", age);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480560"/>
            <a:ext cx="5394960" cy="548640"/>
          </a:xfrm>
          <a:prstGeom prst="roundRect">
            <a:avLst>
              <a:gd name="adj" fmla="val 15000"/>
            </a:avLst>
          </a:prstGeom>
          <a:solidFill>
            <a:srgbClr val="EAF6E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48056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Age = 20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72200" y="1508760"/>
            <a:ext cx="5468112" cy="411480"/>
          </a:xfrm>
          <a:prstGeom prst="roundRect">
            <a:avLst>
              <a:gd name="adj" fmla="val 20000"/>
            </a:avLst>
          </a:prstGeom>
          <a:solidFill>
            <a:srgbClr val="F6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1508760"/>
            <a:ext cx="54681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VALUES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011680"/>
            <a:ext cx="5468112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73368" y="2157984"/>
            <a:ext cx="5065776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 = 10, b = 20;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printf("A = %d, B = %d", a, b);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566160"/>
            <a:ext cx="5468112" cy="548640"/>
          </a:xfrm>
          <a:prstGeom prst="roundRect">
            <a:avLst>
              <a:gd name="adj" fmla="val 15000"/>
            </a:avLst>
          </a:prstGeom>
          <a:solidFill>
            <a:srgbClr val="EAF6EF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566160"/>
            <a:ext cx="5468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A = 10, B = 20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172200" y="4251960"/>
            <a:ext cx="5468112" cy="1965960"/>
          </a:xfrm>
          <a:prstGeom prst="roundRect">
            <a:avLst>
              <a:gd name="adj" fmla="val 4186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389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00800" y="4681728"/>
            <a:ext cx="4937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format specifier must match the variable's data type.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FORMAT SPECIFIERS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Format Specifiers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51108" y="384048"/>
            <a:ext cx="48920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151108" y="384048"/>
            <a:ext cx="489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7315200" cy="36576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printf("%d", x);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printf("%f", x);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%lf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scanf("%lf", &amp;x);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printf("%c", ch);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printf("%s", name);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Unsigned 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printf("%u", x);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Hexadecimal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%x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B3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printf("%x", x);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412480" y="1508760"/>
            <a:ext cx="3227832" cy="3657600"/>
          </a:xfrm>
          <a:prstGeom prst="roundRect">
            <a:avLst>
              <a:gd name="adj" fmla="val 2550"/>
            </a:avLst>
          </a:prstGeom>
          <a:solidFill>
            <a:srgbClr val="1E2761"/>
          </a:solidFill>
          <a:ln/>
        </p:spPr>
      </p:sp>
      <p:sp>
        <p:nvSpPr>
          <p:cNvPr id="9" name="Text 6"/>
          <p:cNvSpPr/>
          <p:nvPr/>
        </p:nvSpPr>
        <p:spPr>
          <a:xfrm>
            <a:off x="86410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Rule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41080" y="1965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scanf():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41080" y="2267712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 → %d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 → %f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→ %lf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  → %c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41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printf():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41080" y="368503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 → %f</a:t>
            </a:r>
            <a:endParaRPr lang="en-US" sz="12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→ %s</a:t>
            </a:r>
            <a:endParaRPr lang="en-US" sz="1250" dirty="0"/>
          </a:p>
        </p:txBody>
      </p:sp>
      <p:sp>
        <p:nvSpPr>
          <p:cNvPr id="7" name="Text 11"/>
          <p:cNvSpPr/>
          <p:nvPr/>
        </p:nvSpPr>
        <p:spPr>
          <a:xfrm>
            <a:off x="8641080" y="443484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%lf matters for scanf() with double.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· FORMAT SPECIFIERS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51108" y="384048"/>
            <a:ext cx="48920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1151108" y="384048"/>
            <a:ext cx="4892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087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 control exactly how output looks: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5394960" cy="1188720"/>
          </a:xfrm>
          <a:prstGeom prst="roundRect">
            <a:avLst>
              <a:gd name="adj" fmla="val 692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49808" y="2112264"/>
            <a:ext cx="499262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marks = 87.45678;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marks);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246120"/>
            <a:ext cx="5394960" cy="502920"/>
          </a:xfrm>
          <a:prstGeom prst="roundRect">
            <a:avLst>
              <a:gd name="adj" fmla="val 16364"/>
            </a:avLst>
          </a:prstGeom>
          <a:solidFill>
            <a:srgbClr val="F1F3F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2461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E789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</a:t>
            </a: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87.456780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468112" cy="1188720"/>
          </a:xfrm>
          <a:prstGeom prst="roundRect">
            <a:avLst>
              <a:gd name="adj" fmla="val 6923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73368" y="2112264"/>
            <a:ext cx="506577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printf("%.2f", marks);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limit decimal places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246120"/>
            <a:ext cx="5468112" cy="502920"/>
          </a:xfrm>
          <a:prstGeom prst="roundRect">
            <a:avLst>
              <a:gd name="adj" fmla="val 16364"/>
            </a:avLst>
          </a:prstGeom>
          <a:solidFill>
            <a:srgbClr val="EAF6EF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3246120"/>
            <a:ext cx="54681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87.46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394960" cy="1280160"/>
          </a:xfrm>
          <a:prstGeom prst="roundRect">
            <a:avLst>
              <a:gd name="adj" fmla="val 6429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4050792"/>
            <a:ext cx="50657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EXAMPLES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49808" y="4325112"/>
            <a:ext cx="49926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printf("%5d", 25);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printf("%.2f", 12.3456);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printf("%10s", "CSE");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977640"/>
            <a:ext cx="5468112" cy="1280160"/>
          </a:xfrm>
          <a:prstGeom prst="roundRect">
            <a:avLst>
              <a:gd name="adj" fmla="val 6429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09651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Formatting?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4370832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readability  •  Professional output</a:t>
            </a:r>
            <a:endParaRPr lang="en-US" sz="135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&amp; reports  •  User-friendly programs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· COMPLETE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 a Structured C Program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62488" y="38404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38404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</a:t>
            </a:r>
            <a:r>
              <a:rPr lang="en-US" sz="1600" i="1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two integers from the user and display their sum, difference, product and division.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13232" y="2176272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INPUT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49808" y="2450592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a, b;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 %d", &amp;a, &amp;b);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06824" y="21031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71416" y="2176272"/>
            <a:ext cx="32369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PROCESSING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07992" y="2450592"/>
            <a:ext cx="31638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a + b;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difference = a - b;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 = a * b;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= (float)a / b;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13648" y="21031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778240" y="2176272"/>
            <a:ext cx="3246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OUTPUT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14816" y="2450592"/>
            <a:ext cx="31729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printf("Sum = %d\n", sum);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printf("Diff = %d\n", diff);</a:t>
            </a:r>
            <a:endParaRPr lang="en-US" sz="11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03320"/>
            <a:ext cx="11091672" cy="2880360"/>
          </a:xfrm>
          <a:prstGeom prst="roundRect">
            <a:avLst>
              <a:gd name="adj" fmla="val 2857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" y="3776472"/>
            <a:ext cx="1076248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PROGRAM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49808" y="4050792"/>
            <a:ext cx="10689336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a, b, sum, difference, product;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division;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 %d", &amp;a, &amp;b);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 = a + b;   difference = a - b;   product = a * b;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 = (float)a / b;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printf("Sum = %d\n", sum);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printf("Difference = %d\n", difference);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printf("Product = %d\n", product);</a:t>
            </a:r>
            <a:endParaRPr lang="en-US" sz="12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printf("Division = %.2f\n", division);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HANDS-ON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Exercise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62488" y="38404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38404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5394960" cy="2331720"/>
          </a:xfrm>
          <a:prstGeom prst="roundRect">
            <a:avLst>
              <a:gd name="adj" fmla="val 3529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Two-Integer Calculator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01168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two integers using scanf()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Calculate: addition, subtraction, multiplication, integer division, floating-point division</a:t>
            </a:r>
            <a:endParaRPr lang="en-US" sz="135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results using printf()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72200" y="1508760"/>
            <a:ext cx="5468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STRUCTURE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874520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172200" y="1874520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Declare variables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276856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334186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2276856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Take two integers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72200" y="2679192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172200" y="2679192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Perform arithmetic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081528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334186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3081528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Integer division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72200" y="3483864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3483864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Type-cast division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3886200"/>
            <a:ext cx="5468112" cy="347472"/>
          </a:xfrm>
          <a:prstGeom prst="roundRect">
            <a:avLst>
              <a:gd name="adj" fmla="val 21053"/>
            </a:avLst>
          </a:prstGeom>
          <a:solidFill>
            <a:srgbClr val="334186"/>
          </a:solidFill>
          <a:ln/>
        </p:spPr>
      </p:sp>
      <p:sp>
        <p:nvSpPr>
          <p:cNvPr id="22" name="Text 20"/>
          <p:cNvSpPr/>
          <p:nvPr/>
        </p:nvSpPr>
        <p:spPr>
          <a:xfrm>
            <a:off x="6172200" y="3886200"/>
            <a:ext cx="5468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Display results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931920"/>
            <a:ext cx="5394960" cy="914400"/>
          </a:xfrm>
          <a:prstGeom prst="roundRect">
            <a:avLst>
              <a:gd name="adj" fmla="val 9000"/>
            </a:avLst>
          </a:prstGeom>
          <a:solidFill>
            <a:srgbClr val="F1F3F9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3931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Input:  </a:t>
            </a:r>
            <a:r>
              <a:rPr lang="en-US" sz="1600" b="1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7  2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48640" y="4983480"/>
            <a:ext cx="5394960" cy="123444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0235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Should Predict: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77240" y="53949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Addition = ?    Subtraction = ?</a:t>
            </a:r>
            <a:endParaRPr lang="en-US" sz="125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Multiplication = ?    Division = ?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HANDS-ON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Predict Before Running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62488" y="38404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38404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6309360" cy="2377440"/>
          </a:xfrm>
          <a:prstGeom prst="roundRect">
            <a:avLst>
              <a:gd name="adj" fmla="val 3462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581912"/>
            <a:ext cx="598017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OUTPUT HIDDEN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49808" y="1856232"/>
            <a:ext cx="59070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 = 7, b = 2;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printf("%d\n", a / b);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printf("%.2f\n", (float)a / b);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3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60920" y="1508760"/>
            <a:ext cx="4279392" cy="2377440"/>
          </a:xfrm>
          <a:prstGeom prst="roundRect">
            <a:avLst>
              <a:gd name="adj" fmla="val 3462"/>
            </a:avLst>
          </a:prstGeom>
          <a:solidFill>
            <a:srgbClr val="F6F7FB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0" y="1645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589520" y="196596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Q1. What is the first output?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Q2. What is the second output?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Q3. Why are they different?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114800"/>
            <a:ext cx="11091672" cy="914400"/>
          </a:xfrm>
          <a:prstGeom prst="roundRect">
            <a:avLst>
              <a:gd name="adj" fmla="val 9000"/>
            </a:avLst>
          </a:prstGeom>
          <a:solidFill>
            <a:srgbClr val="EAF6E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114800"/>
            <a:ext cx="11091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Expected Output:   3          3.50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52852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555955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  →  3        </a:t>
            </a:r>
            <a:r>
              <a:rPr lang="en-US" sz="16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(float)7 / 2  →  3.50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HANDS-ON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 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62488" y="38404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38404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64792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350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age);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77240" y="283464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35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72200" y="1600200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6F7F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1764792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19456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350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 = 5 / 2;   // 2.000000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00800" y="2834640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35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r = (float)5 / 2;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3849624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6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014216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443984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350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3.14);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7240" y="5084064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35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printf("%f", 3.14);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172200" y="3849624"/>
            <a:ext cx="5468112" cy="2011680"/>
          </a:xfrm>
          <a:prstGeom prst="roundRect">
            <a:avLst>
              <a:gd name="adj" fmla="val 4091"/>
            </a:avLst>
          </a:prstGeom>
          <a:solidFill>
            <a:srgbClr val="F6F7F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014216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 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443984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✗  </a:t>
            </a:r>
            <a:r>
              <a:rPr lang="en-US" sz="1350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printf("Hello"); printf("World");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400800" y="5084064"/>
            <a:ext cx="5010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  </a:t>
            </a:r>
            <a:r>
              <a:rPr lang="en-US" sz="1350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printf("Hello\n"); printf("World\n");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943600"/>
            <a:ext cx="11091672" cy="502920"/>
          </a:xfrm>
          <a:prstGeom prst="roundRect">
            <a:avLst>
              <a:gd name="adj" fmla="val 16364"/>
            </a:avLst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5943600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fix these four patterns and most beginner runtime bugs disappear.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· HANDS-ON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Quiz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762488" y="384048"/>
            <a:ext cx="877824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762488" y="384048"/>
            <a:ext cx="87782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600200"/>
            <a:ext cx="5468112" cy="2057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783080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Which function is used for input?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501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input()   B. scanf()   C. read()   D. get()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330952" y="180136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5330952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5468112" cy="2057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783080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does (float)a represent?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0" y="2423160"/>
            <a:ext cx="501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Declaration  B. Implicit  C. Explicit casting  D. Pointer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0954512" y="1801368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54512" y="1801368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895344"/>
            <a:ext cx="5468112" cy="2057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78224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Output of printf("%d", 5 / 2); 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718304"/>
            <a:ext cx="501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2   B. 2.5   C. 3   D. Error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330952" y="409651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/>
          <p:nvPr/>
        </p:nvSpPr>
        <p:spPr>
          <a:xfrm>
            <a:off x="5330952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172200" y="3895344"/>
            <a:ext cx="5468112" cy="2057400"/>
          </a:xfrm>
          <a:prstGeom prst="roundRect">
            <a:avLst>
              <a:gd name="adj" fmla="val 4000"/>
            </a:avLst>
          </a:prstGeom>
          <a:solidFill>
            <a:srgbClr val="F6F7F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4078224"/>
            <a:ext cx="455371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Symbol used with a variable in scanf()?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0" y="4718304"/>
            <a:ext cx="50109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*   B. &amp;   C. %   D. #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0954512" y="4096512"/>
            <a:ext cx="420624" cy="42062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954512" y="4096512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Learn Today?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95660" y="384048"/>
            <a:ext cx="64465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995660" y="384048"/>
            <a:ext cx="6446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468112" cy="1417320"/>
          </a:xfrm>
          <a:prstGeom prst="roundRect">
            <a:avLst>
              <a:gd name="adj" fmla="val 5806"/>
            </a:avLst>
          </a:prstGeom>
          <a:solidFill>
            <a:srgbClr val="F6F7FB"/>
          </a:solidFill>
          <a:ln/>
        </p:spPr>
      </p:sp>
      <p:sp>
        <p:nvSpPr>
          <p:cNvPr id="8" name="Shape 6"/>
          <p:cNvSpPr/>
          <p:nvPr/>
        </p:nvSpPr>
        <p:spPr>
          <a:xfrm>
            <a:off x="749808" y="16916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70432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Programming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22960" y="2075688"/>
            <a:ext cx="4965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complex problems into smaller tasks using sequence, selection &amp; iteration.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5468112" cy="1417320"/>
          </a:xfrm>
          <a:prstGeom prst="roundRect">
            <a:avLst>
              <a:gd name="adj" fmla="val 5806"/>
            </a:avLst>
          </a:prstGeom>
          <a:solidFill>
            <a:srgbClr val="F6F7F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73368" y="16916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6373368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93992" y="1627632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Design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446520" y="2075688"/>
            <a:ext cx="4965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complete problem, then break it into smaller modules and tasks.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3072384"/>
            <a:ext cx="5468112" cy="1417320"/>
          </a:xfrm>
          <a:prstGeom prst="roundRect">
            <a:avLst>
              <a:gd name="adj" fmla="val 5806"/>
            </a:avLst>
          </a:prstGeom>
          <a:solidFill>
            <a:srgbClr val="F6F7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49808" y="325526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255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70432" y="319125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3639312"/>
            <a:ext cx="4965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Implicit: compiler converts automatically.  Explicit: programmer uses type casting.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72200" y="3072384"/>
            <a:ext cx="5468112" cy="1417320"/>
          </a:xfrm>
          <a:prstGeom prst="roundRect">
            <a:avLst>
              <a:gd name="adj" fmla="val 5806"/>
            </a:avLst>
          </a:prstGeom>
          <a:solidFill>
            <a:srgbClr val="F6F7FB"/>
          </a:solidFill>
          <a:ln/>
        </p:spPr>
      </p:sp>
      <p:sp>
        <p:nvSpPr>
          <p:cNvPr id="23" name="Shape 21"/>
          <p:cNvSpPr/>
          <p:nvPr/>
        </p:nvSpPr>
        <p:spPr>
          <a:xfrm>
            <a:off x="6373368" y="3255264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373368" y="325526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793992" y="3191256"/>
            <a:ext cx="46451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46520" y="3639312"/>
            <a:ext cx="4965192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reads input from the user.  printf() displays output to the user.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6923"/>
            </a:avLst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804672" y="518464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Important Concept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" y="546811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2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is not necessarily  </a:t>
            </a:r>
            <a:r>
              <a:rPr lang="en-US" sz="1700" b="1" dirty="0">
                <a:solidFill>
                  <a:srgbClr val="C046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 C  —  </a:t>
            </a:r>
            <a:r>
              <a:rPr lang="en-US" sz="17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(float)5 / 2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gives </a:t>
            </a:r>
            <a:r>
              <a:rPr lang="en-US" sz="1700" b="1" dirty="0">
                <a:solidFill>
                  <a:srgbClr val="2E9E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2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ACTIVITY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9692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Assignment: Student Marks Calculator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607040" y="384048"/>
            <a:ext cx="1033272" cy="329184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10607040" y="384048"/>
            <a:ext cx="103327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298448"/>
            <a:ext cx="11091672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08760"/>
            <a:ext cx="5394960" cy="3063240"/>
          </a:xfrm>
          <a:prstGeom prst="roundRect">
            <a:avLst>
              <a:gd name="adj" fmla="val 2687"/>
            </a:avLst>
          </a:prstGeom>
          <a:solidFill>
            <a:srgbClr val="F6F7FB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 program that: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965960"/>
            <a:ext cx="49377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the student's Name, Roll number, and Marks in 3 subjects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Total marks, Average marks, and Percentage</a:t>
            </a:r>
            <a:endParaRPr lang="en-US" sz="14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2B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the result in a formatted manner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72200" y="1508760"/>
            <a:ext cx="5468112" cy="1737360"/>
          </a:xfrm>
          <a:prstGeom prst="roundRect">
            <a:avLst>
              <a:gd name="adj" fmla="val 4737"/>
            </a:avLst>
          </a:prstGeom>
          <a:solidFill>
            <a:srgbClr val="F1F3F9"/>
          </a:solidFill>
          <a:ln/>
          <a:effectLst>
            <a:outerShdw blurRad="76200" dist="25400" dir="5400000" algn="bl" rotWithShape="0">
              <a:srgbClr val="8896B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36792" y="1581912"/>
            <a:ext cx="51389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THE AVERAGE BOTH WAYS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73368" y="1856232"/>
            <a:ext cx="506577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average1 = total / 3;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202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average2 = (float)total / 3;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3429000"/>
            <a:ext cx="5468112" cy="1143000"/>
          </a:xfrm>
          <a:prstGeom prst="roundRect">
            <a:avLst>
              <a:gd name="adj" fmla="val 7200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547872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Answer: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0" y="3803904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can these two expressions produce different results?”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800600"/>
            <a:ext cx="11091672" cy="1463040"/>
          </a:xfrm>
          <a:prstGeom prst="roundRect">
            <a:avLst>
              <a:gd name="adj" fmla="val 5625"/>
            </a:avLst>
          </a:prstGeom>
          <a:solidFill>
            <a:srgbClr val="F1F3F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00600"/>
            <a:ext cx="1109167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118311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E78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2064</Words>
  <Application>Microsoft Office PowerPoint</Application>
  <PresentationFormat>Widescreen</PresentationFormat>
  <Paragraphs>422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SOUMYADIP JANA</cp:lastModifiedBy>
  <cp:revision>2</cp:revision>
  <dcterms:created xsi:type="dcterms:W3CDTF">2026-08-10T05:55:58Z</dcterms:created>
  <dcterms:modified xsi:type="dcterms:W3CDTF">2026-08-10T08:13:41Z</dcterms:modified>
</cp:coreProperties>
</file>